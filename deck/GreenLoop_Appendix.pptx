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4" r:id="rId6"/>
    <p:sldId id="263" r:id="rId7"/>
    <p:sldId id="265" r:id="rId8"/>
    <p:sldId id="266" r:id="rId9"/>
    <p:sldId id="267" r:id="rId10"/>
    <p:sldId id="268" r:id="rId11"/>
    <p:sldId id="261" r:id="rId12"/>
    <p:sldId id="262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E8F5EC"/>
    <a:srgbClr val="CCECFF"/>
    <a:srgbClr val="CCFFFF"/>
    <a:srgbClr val="FEF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32" autoAdjust="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DB328-4870-4863-860B-30354422FEC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C4E7E-6978-4382-B39A-1E2DD0C9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6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C4E7E-6978-4382-B39A-1E2DD0C947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73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GreenLoop · Team Synkosys · supporting detail for the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6210678" y="1627491"/>
            <a:ext cx="5752165" cy="3421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02942" y="1645920"/>
            <a:ext cx="5752165" cy="3421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A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AI &amp; system status · honest boundary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0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What is genuinely working today vs. what still needs building.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04636" y="2057441"/>
            <a:ext cx="2693324" cy="2834640"/>
            <a:chOff x="548640" y="1965960"/>
            <a:chExt cx="2693324" cy="283464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1965960"/>
              <a:ext cx="2693324" cy="2834640"/>
            </a:xfrm>
            <a:prstGeom prst="roundRect">
              <a:avLst>
                <a:gd name="adj" fmla="val 6000"/>
              </a:avLst>
            </a:prstGeom>
            <a:solidFill>
              <a:srgbClr val="ECFDF5"/>
            </a:solidFill>
            <a:ln w="12700">
              <a:solidFill>
                <a:srgbClr val="BBF7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9808" y="2130552"/>
              <a:ext cx="218042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300" b="1" dirty="0">
                  <a:solidFill>
                    <a:srgbClr val="16A34A"/>
                  </a:solidFill>
                  <a:latin typeface="Calibri"/>
                </a:rPr>
                <a:t>✓  Working in the browser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0896" y="2587752"/>
              <a:ext cx="2273847" cy="1317797"/>
            </a:xfrm>
            <a:prstGeom prst="rect">
              <a:avLst/>
            </a:prstGeom>
            <a:noFill/>
          </p:spPr>
          <p:txBody>
            <a:bodyPr wrap="square" lIns="0" tIns="0">
              <a:sp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sz="700" dirty="0">
                  <a:solidFill>
                    <a:srgbClr val="16A34A"/>
                  </a:solidFill>
                  <a:latin typeface="Calibri"/>
                </a:rPr>
                <a:t>•  </a:t>
              </a:r>
              <a:r>
                <a:rPr sz="1100" dirty="0">
                  <a:solidFill>
                    <a:srgbClr val="475569"/>
                  </a:solidFill>
                  <a:latin typeface="Calibri"/>
                </a:rPr>
                <a:t>TensorFlow.js COCO-SSD on webcam / uploaded photos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sz="700" dirty="0">
                  <a:solidFill>
                    <a:srgbClr val="16A34A"/>
                  </a:solidFill>
                  <a:latin typeface="Calibri"/>
                </a:rPr>
                <a:t>•  </a:t>
              </a:r>
              <a:r>
                <a:rPr sz="1100" dirty="0" smtClean="0">
                  <a:solidFill>
                    <a:srgbClr val="475569"/>
                  </a:solidFill>
                  <a:latin typeface="Calibri"/>
                </a:rPr>
                <a:t>Green Points wallet, redemption &amp; fee offset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sz="700" dirty="0" smtClean="0">
                  <a:solidFill>
                    <a:srgbClr val="16A34A"/>
                  </a:solidFill>
                  <a:latin typeface="Calibri"/>
                </a:rPr>
                <a:t>•  </a:t>
              </a:r>
              <a:r>
                <a:rPr sz="1100" dirty="0" smtClean="0">
                  <a:solidFill>
                    <a:srgbClr val="475569"/>
                  </a:solidFill>
                  <a:latin typeface="Calibri"/>
                </a:rPr>
                <a:t>Dispatch sim on real roads (OSRM) + 6-hub map</a:t>
              </a:r>
              <a:endParaRPr sz="1100" dirty="0">
                <a:solidFill>
                  <a:srgbClr val="475569"/>
                </a:solidFill>
                <a:latin typeface="Calibri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9141943" y="2069363"/>
            <a:ext cx="2693324" cy="2834640"/>
            <a:chOff x="6080760" y="1912022"/>
            <a:chExt cx="2693324" cy="2834640"/>
          </a:xfrm>
        </p:grpSpPr>
        <p:sp>
          <p:nvSpPr>
            <p:cNvPr id="14" name="Rounded Rectangle 13"/>
            <p:cNvSpPr/>
            <p:nvPr/>
          </p:nvSpPr>
          <p:spPr>
            <a:xfrm>
              <a:off x="6080760" y="1912022"/>
              <a:ext cx="2693324" cy="2834640"/>
            </a:xfrm>
            <a:prstGeom prst="roundRect">
              <a:avLst>
                <a:gd name="adj" fmla="val 6000"/>
              </a:avLst>
            </a:prstGeom>
            <a:solidFill>
              <a:srgbClr val="FEE2E8"/>
            </a:solidFill>
            <a:ln w="12700">
              <a:solidFill>
                <a:srgbClr val="D312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84304" y="2127054"/>
              <a:ext cx="1787652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300" b="1" dirty="0">
                  <a:solidFill>
                    <a:srgbClr val="D31245"/>
                  </a:solidFill>
                  <a:latin typeface="Calibri"/>
                </a:rPr>
                <a:t>!  Needs real-world build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39505" y="2541145"/>
              <a:ext cx="2410552" cy="1317797"/>
            </a:xfrm>
            <a:prstGeom prst="rect">
              <a:avLst/>
            </a:prstGeom>
            <a:noFill/>
          </p:spPr>
          <p:txBody>
            <a:bodyPr wrap="square" lIns="0" tIns="0">
              <a:sp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sz="700" dirty="0">
                  <a:solidFill>
                    <a:srgbClr val="D31245"/>
                  </a:solidFill>
                  <a:latin typeface="Calibri"/>
                </a:rPr>
                <a:t>•  </a:t>
              </a:r>
              <a:r>
                <a:rPr sz="1100" dirty="0">
                  <a:solidFill>
                    <a:srgbClr val="475569"/>
                  </a:solidFill>
                  <a:latin typeface="Calibri"/>
                </a:rPr>
                <a:t>Recyclability/material classifier on real items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sz="700" dirty="0">
                  <a:solidFill>
                    <a:srgbClr val="D31245"/>
                  </a:solidFill>
                  <a:latin typeface="Calibri"/>
                </a:rPr>
                <a:t>•  </a:t>
              </a:r>
              <a:r>
                <a:rPr sz="1100" dirty="0">
                  <a:solidFill>
                    <a:srgbClr val="475569"/>
                  </a:solidFill>
                  <a:latin typeface="Calibri"/>
                </a:rPr>
                <a:t>Physical smart-bin hardware + load cells</a:t>
              </a:r>
            </a:p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sz="700" dirty="0">
                  <a:solidFill>
                    <a:srgbClr val="D31245"/>
                  </a:solidFill>
                  <a:latin typeface="Calibri"/>
                </a:rPr>
                <a:t>•  </a:t>
              </a:r>
              <a:r>
                <a:rPr sz="1100" dirty="0">
                  <a:solidFill>
                    <a:srgbClr val="475569"/>
                  </a:solidFill>
                  <a:latin typeface="Calibri"/>
                </a:rPr>
                <a:t>POS/voucher + identity + telemetry integration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75156" y="5233886"/>
            <a:ext cx="11559901" cy="914400"/>
            <a:chOff x="548640" y="5029200"/>
            <a:chExt cx="11064240" cy="9144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5029200"/>
              <a:ext cx="11064240" cy="914400"/>
            </a:xfrm>
            <a:prstGeom prst="roundRect">
              <a:avLst>
                <a:gd name="adj" fmla="val 6000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7240" y="5138928"/>
              <a:ext cx="1060704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200" b="1" dirty="0">
                  <a:solidFill>
                    <a:srgbClr val="0F172A"/>
                  </a:solidFill>
                  <a:latin typeface="Calibri"/>
                </a:rPr>
                <a:t>On AI accuracy &amp; anti-cheat:  </a:t>
              </a:r>
              <a:r>
                <a:rPr sz="1150" b="0" dirty="0">
                  <a:solidFill>
                    <a:srgbClr val="475569"/>
                  </a:solidFill>
                  <a:latin typeface="Calibri"/>
                </a:rPr>
                <a:t>the demo detects common objects (bottle, can, cup, phone); it does not yet confirm material purity. Production needs a recyclability classifier validated on real items, plus the two-camera entry/inside check to stop re-scanning without depositing.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B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356275" y="2060896"/>
            <a:ext cx="2693324" cy="2834640"/>
            <a:chOff x="3168706" y="1828800"/>
            <a:chExt cx="2693324" cy="2834640"/>
          </a:xfrm>
        </p:grpSpPr>
        <p:grpSp>
          <p:nvGrpSpPr>
            <p:cNvPr id="32" name="Group 31"/>
            <p:cNvGrpSpPr/>
            <p:nvPr/>
          </p:nvGrpSpPr>
          <p:grpSpPr>
            <a:xfrm>
              <a:off x="3168706" y="1828800"/>
              <a:ext cx="2693324" cy="2834640"/>
              <a:chOff x="3204556" y="1912022"/>
              <a:chExt cx="2693324" cy="2834640"/>
            </a:xfrm>
          </p:grpSpPr>
          <p:sp>
            <p:nvSpPr>
              <p:cNvPr id="33" name="Rounded Rectangle 32"/>
              <p:cNvSpPr/>
              <p:nvPr/>
            </p:nvSpPr>
            <p:spPr>
              <a:xfrm>
                <a:off x="3204556" y="1912022"/>
                <a:ext cx="2693324" cy="2834640"/>
              </a:xfrm>
              <a:prstGeom prst="roundRect">
                <a:avLst>
                  <a:gd name="adj" fmla="val 6000"/>
                </a:avLst>
              </a:prstGeom>
              <a:solidFill>
                <a:srgbClr val="CCECFF"/>
              </a:solidFill>
              <a:ln w="12700"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479292" y="2128167"/>
                <a:ext cx="2222838" cy="20005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1300" b="1" dirty="0">
                    <a:solidFill>
                      <a:srgbClr val="002060"/>
                    </a:solidFill>
                    <a:latin typeface="Calibri"/>
                  </a:rPr>
                  <a:t>~  </a:t>
                </a:r>
                <a:r>
                  <a:rPr lang="en-US" sz="1300" b="1" dirty="0" smtClean="0">
                    <a:solidFill>
                      <a:srgbClr val="002060"/>
                    </a:solidFill>
                    <a:latin typeface="Calibri"/>
                  </a:rPr>
                  <a:t>Mobile Application </a:t>
                </a:r>
                <a:endParaRPr sz="1300" b="1" dirty="0">
                  <a:solidFill>
                    <a:srgbClr val="002060"/>
                  </a:solidFill>
                  <a:latin typeface="Calibri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378459" y="2532942"/>
                <a:ext cx="2424504" cy="1140056"/>
              </a:xfrm>
              <a:prstGeom prst="rect">
                <a:avLst/>
              </a:prstGeom>
              <a:noFill/>
            </p:spPr>
            <p:txBody>
              <a:bodyPr wrap="square" lIns="0" tIns="0">
                <a:spAutoFit/>
              </a:bodyPr>
              <a:lstStyle/>
              <a:p>
                <a:pPr>
                  <a:lnSpc>
                    <a:spcPct val="105000"/>
                  </a:lnSpc>
                  <a:spcAft>
                    <a:spcPts val="800"/>
                  </a:spcAft>
                </a:pPr>
                <a:r>
                  <a:rPr sz="700" dirty="0">
                    <a:solidFill>
                      <a:srgbClr val="002060"/>
                    </a:solidFill>
                    <a:latin typeface="Calibri"/>
                  </a:rPr>
                  <a:t>•  </a:t>
                </a:r>
                <a:r>
                  <a:rPr lang="en-US" sz="1100" dirty="0" smtClean="0">
                    <a:solidFill>
                      <a:srgbClr val="002060"/>
                    </a:solidFill>
                    <a:latin typeface="Calibri"/>
                  </a:rPr>
                  <a:t>Phone Apps for User</a:t>
                </a:r>
                <a:endParaRPr sz="1100" dirty="0">
                  <a:solidFill>
                    <a:srgbClr val="002060"/>
                  </a:solidFill>
                  <a:latin typeface="Calibri"/>
                </a:endParaRP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</a:pPr>
                <a:r>
                  <a:rPr sz="700" dirty="0">
                    <a:solidFill>
                      <a:srgbClr val="002060"/>
                    </a:solidFill>
                    <a:latin typeface="Calibri"/>
                  </a:rPr>
                  <a:t>•  </a:t>
                </a:r>
                <a:r>
                  <a:rPr lang="en-US" sz="1100" dirty="0" smtClean="0">
                    <a:solidFill>
                      <a:srgbClr val="002060"/>
                    </a:solidFill>
                    <a:latin typeface="Calibri"/>
                  </a:rPr>
                  <a:t>User to connect with the Smart Recycle Hub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n-US" sz="700" dirty="0">
                    <a:solidFill>
                      <a:srgbClr val="002060"/>
                    </a:solidFill>
                  </a:rPr>
                  <a:t>•  </a:t>
                </a:r>
                <a:r>
                  <a:rPr lang="en-US" sz="1100" dirty="0" smtClean="0">
                    <a:solidFill>
                      <a:srgbClr val="002060"/>
                    </a:solidFill>
                  </a:rPr>
                  <a:t>Activity monitoring </a:t>
                </a:r>
                <a:r>
                  <a:rPr lang="en-US" sz="1100" dirty="0">
                    <a:solidFill>
                      <a:srgbClr val="002060"/>
                    </a:solidFill>
                  </a:rPr>
                  <a:t>+ Green Points wallet, redemption &amp; fee offset</a:t>
                </a:r>
              </a:p>
            </p:txBody>
          </p:sp>
        </p:grp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156" y="3589776"/>
              <a:ext cx="481261" cy="98908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  <p:grpSp>
        <p:nvGrpSpPr>
          <p:cNvPr id="38" name="Group 37"/>
          <p:cNvGrpSpPr/>
          <p:nvPr/>
        </p:nvGrpSpPr>
        <p:grpSpPr>
          <a:xfrm>
            <a:off x="3283766" y="2057441"/>
            <a:ext cx="2693324" cy="2834640"/>
            <a:chOff x="6055420" y="1828800"/>
            <a:chExt cx="2693324" cy="2834640"/>
          </a:xfrm>
        </p:grpSpPr>
        <p:grpSp>
          <p:nvGrpSpPr>
            <p:cNvPr id="30" name="Group 29"/>
            <p:cNvGrpSpPr/>
            <p:nvPr/>
          </p:nvGrpSpPr>
          <p:grpSpPr>
            <a:xfrm>
              <a:off x="6055420" y="1828800"/>
              <a:ext cx="2693324" cy="2834640"/>
              <a:chOff x="3204556" y="1912022"/>
              <a:chExt cx="2693324" cy="283464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3204556" y="1912022"/>
                <a:ext cx="2693324" cy="2834640"/>
              </a:xfrm>
              <a:prstGeom prst="roundRect">
                <a:avLst>
                  <a:gd name="adj" fmla="val 6000"/>
                </a:avLst>
              </a:prstGeom>
              <a:solidFill>
                <a:srgbClr val="FEF3E2"/>
              </a:solidFill>
              <a:ln w="12700">
                <a:solidFill>
                  <a:srgbClr val="F59E0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479292" y="2128167"/>
                <a:ext cx="2222838" cy="20005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1300" b="1" dirty="0">
                    <a:solidFill>
                      <a:srgbClr val="F97316"/>
                    </a:solidFill>
                    <a:latin typeface="Calibri"/>
                  </a:rPr>
                  <a:t>~  Simulated in the prototype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438144" y="2544367"/>
                <a:ext cx="2305134" cy="1317797"/>
              </a:xfrm>
              <a:prstGeom prst="rect">
                <a:avLst/>
              </a:prstGeom>
              <a:noFill/>
            </p:spPr>
            <p:txBody>
              <a:bodyPr wrap="square" lIns="0" tIns="0">
                <a:spAutoFit/>
              </a:bodyPr>
              <a:lstStyle/>
              <a:p>
                <a:pPr>
                  <a:lnSpc>
                    <a:spcPct val="105000"/>
                  </a:lnSpc>
                  <a:spcAft>
                    <a:spcPts val="800"/>
                  </a:spcAft>
                </a:pPr>
                <a:r>
                  <a:rPr sz="700" dirty="0">
                    <a:solidFill>
                      <a:srgbClr val="F97316"/>
                    </a:solidFill>
                    <a:latin typeface="Calibri"/>
                  </a:rPr>
                  <a:t>•  </a:t>
                </a:r>
                <a:r>
                  <a:rPr sz="1100" dirty="0">
                    <a:solidFill>
                      <a:srgbClr val="475569"/>
                    </a:solidFill>
                    <a:latin typeface="Calibri"/>
                  </a:rPr>
                  <a:t>Bin fill levels &amp; sensor weights (demo values)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</a:pPr>
                <a:r>
                  <a:rPr sz="700" dirty="0">
                    <a:solidFill>
                      <a:srgbClr val="F97316"/>
                    </a:solidFill>
                    <a:latin typeface="Calibri"/>
                  </a:rPr>
                  <a:t>•  </a:t>
                </a:r>
                <a:r>
                  <a:rPr sz="1100" dirty="0">
                    <a:solidFill>
                      <a:srgbClr val="475569"/>
                    </a:solidFill>
                    <a:latin typeface="Calibri"/>
                  </a:rPr>
                  <a:t>Two-camera cheat check (entry vs inside)</a:t>
                </a:r>
              </a:p>
              <a:p>
                <a:pPr>
                  <a:lnSpc>
                    <a:spcPct val="105000"/>
                  </a:lnSpc>
                  <a:spcAft>
                    <a:spcPts val="800"/>
                  </a:spcAft>
                </a:pPr>
                <a:r>
                  <a:rPr sz="700" dirty="0">
                    <a:solidFill>
                      <a:srgbClr val="F97316"/>
                    </a:solidFill>
                    <a:latin typeface="Calibri"/>
                  </a:rPr>
                  <a:t>•  </a:t>
                </a:r>
                <a:r>
                  <a:rPr sz="1100" dirty="0">
                    <a:solidFill>
                      <a:srgbClr val="475569"/>
                    </a:solidFill>
                    <a:latin typeface="Calibri"/>
                  </a:rPr>
                  <a:t>Township ROI from an indicative, tunable model</a:t>
                </a:r>
              </a:p>
            </p:txBody>
          </p:sp>
        </p:grpSp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36" t="22589" r="-967" b="4116"/>
            <a:stretch/>
          </p:blipFill>
          <p:spPr>
            <a:xfrm>
              <a:off x="7466239" y="3539489"/>
              <a:ext cx="1205204" cy="108966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  <p:sp>
        <p:nvSpPr>
          <p:cNvPr id="40" name="Rectangle 39"/>
          <p:cNvSpPr/>
          <p:nvPr/>
        </p:nvSpPr>
        <p:spPr>
          <a:xfrm>
            <a:off x="2124689" y="1590475"/>
            <a:ext cx="241816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22225">
                  <a:noFill/>
                  <a:prstDash val="solid"/>
                </a:ln>
                <a:solidFill>
                  <a:srgbClr val="00B050"/>
                </a:solidFill>
              </a:rPr>
              <a:t>WORKING TODAY</a:t>
            </a:r>
            <a:endParaRPr lang="en-US" sz="2400" b="1" dirty="0">
              <a:ln w="22225">
                <a:noFill/>
                <a:prstDash val="solid"/>
              </a:ln>
              <a:solidFill>
                <a:srgbClr val="00B05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236871" y="1599231"/>
            <a:ext cx="39166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22225">
                  <a:noFill/>
                  <a:prstDash val="solid"/>
                </a:ln>
                <a:solidFill>
                  <a:srgbClr val="002060"/>
                </a:solidFill>
              </a:rPr>
              <a:t>WHAT STILL NEEDS BUILDING</a:t>
            </a:r>
            <a:endParaRPr lang="en-US" sz="2400" b="1" dirty="0">
              <a:ln w="22225">
                <a:noFill/>
                <a:prstDash val="solid"/>
              </a:ln>
              <a:solidFill>
                <a:srgbClr val="002060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359" y="3961203"/>
            <a:ext cx="1370334" cy="7641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B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Business case &amp; assumptions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Indicative Malaysian benchmarks (2024). Stated openly, not audited financials.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Avoided landfill &amp; haulage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920240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230 / tonne diverted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32304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32304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Carbon / ESG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432304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90 / tonne CO₂e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44368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Hub operating cost (opex)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44368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4,200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56432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One-time setup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456432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85,000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68496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68496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Green Point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968496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0.10 per GP (10 GP = RM 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GP redemption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480560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65% of issued GP redeemed for cash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92624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992624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Assumed volume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992624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8% per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504688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Bulk price: aluminium / e-waste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5504688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4.2 / RM 12 per kg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016752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016752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Bulk price: PET / paper / cardboard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6016752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1.1 / 0.55 / 0.45 per kg</a:t>
            </a:r>
          </a:p>
        </p:txBody>
      </p:sp>
      <p:pic>
        <p:nvPicPr>
          <p:cNvPr id="35" name="Picture 34" descr="ops-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77" y="1947134"/>
            <a:ext cx="5513423" cy="4307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7" name="TextBox 3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C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Diversion Metrics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503" y="1383792"/>
            <a:ext cx="7682753" cy="41543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D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Logistics &amp; Dispatch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430" y="1388112"/>
            <a:ext cx="7439039" cy="41386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323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E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Operator analytics &amp; network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ps-hubs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1554480"/>
            <a:ext cx="4564684" cy="3566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963778" y="1554480"/>
            <a:ext cx="4564684" cy="356616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Hub Stat · day / month / year, respects 09:00 to 17:00 hours</a:t>
            </a:r>
          </a:p>
        </p:txBody>
      </p:sp>
      <p:pic>
        <p:nvPicPr>
          <p:cNvPr id="10" name="Picture 9" descr="hub-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1554480"/>
            <a:ext cx="4564684" cy="3566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6678778" y="1554480"/>
            <a:ext cx="4564684" cy="356616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5212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Recycle Hub network (6 hubs, City of Elmina + Bandar Bukit Raja)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</p:spTree>
    <p:extLst>
      <p:ext uri="{BB962C8B-B14F-4D97-AF65-F5344CB8AC3E}">
        <p14:creationId xmlns:p14="http://schemas.microsoft.com/office/powerpoint/2010/main" val="300691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F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Profile (Resident &amp; Tenant) View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68" y="1617046"/>
            <a:ext cx="5339379" cy="32878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937" y="1628119"/>
            <a:ext cx="5332207" cy="32878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57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G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Recycle Item verification 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421" y="1667659"/>
            <a:ext cx="6624918" cy="36903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2119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H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Voucher Redemption / Maintenance Fee offset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6752"/>
            <a:ext cx="5232753" cy="3340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391" y="1586752"/>
            <a:ext cx="5232753" cy="3340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26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I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Activity Log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898" y="1631576"/>
            <a:ext cx="6507964" cy="36112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990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J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Hub Simulation (Prototype Simulator)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71" y="1319076"/>
            <a:ext cx="10457778" cy="482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5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K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569267"/>
            <a:ext cx="8961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000" b="1" dirty="0" smtClean="0">
                <a:solidFill>
                  <a:srgbClr val="0F172A"/>
                </a:solidFill>
                <a:latin typeface="Calibri"/>
              </a:rPr>
              <a:t>Mobile Apps (Proposal)</a:t>
            </a:r>
            <a:endParaRPr sz="3000" b="1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285" y="1383792"/>
            <a:ext cx="7123091" cy="48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0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FFFFFF"/>
                </a:solidFill>
                <a:latin typeface="Calibri"/>
              </a:rPr>
              <a:t>L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How we meet the judging criteria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8321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Environmental (diversion, CO₂), community (rewards) and operational (cost, visibility)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450592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5059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450592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AI item verification + funded reward model + live AI dispatch in one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63824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163824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163824"/>
            <a:ext cx="8321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3163824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Deployed working prototype; realistic one-hub pilot; clear validation checklist.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7056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877056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Strategic 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77056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3877056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Built on real Sime Darby Property townships; supports ESG and SHIFT25 goals.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90288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590288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Commercial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590288"/>
            <a:ext cx="8321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4590288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Self-funding business case: operating surplus + CapEx payback, not a subsidy.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30352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Team &amp; pitch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3035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5303520"/>
            <a:ext cx="79552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 focused team shipping a real, honest, demoable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850</Words>
  <Application>Microsoft Office PowerPoint</Application>
  <PresentationFormat>Widescreen</PresentationFormat>
  <Paragraphs>111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setsunafath sei</cp:lastModifiedBy>
  <cp:revision>21</cp:revision>
  <dcterms:created xsi:type="dcterms:W3CDTF">2013-01-27T09:14:16Z</dcterms:created>
  <dcterms:modified xsi:type="dcterms:W3CDTF">2026-10-22T14:59:47Z</dcterms:modified>
  <cp:category/>
</cp:coreProperties>
</file>