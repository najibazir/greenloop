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101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AF3A4-81B7-4889-9CEC-4941DA4FA017}" type="datetimeFigureOut">
              <a:rPr lang="en-SG" smtClean="0"/>
              <a:t>21/10/2026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100E6-55FC-4AA5-8BE5-E4944D5D69C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9445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100E6-55FC-4AA5-8BE5-E4944D5D69C4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4625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-914400" y="1920240"/>
            <a:ext cx="8686800" cy="5486400"/>
          </a:xfrm>
          <a:prstGeom prst="rtTriangl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486400" y="1097280"/>
            <a:ext cx="14630400" cy="8229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reenloo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3061607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GreenLoop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Smart Recycling Ecosystem · recycling that pays for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FFFFFF"/>
                </a:solidFill>
                <a:latin typeface="Calibri"/>
              </a:rPr>
              <a:t>Township waste challenge · “Level Up Recycle”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892040"/>
            <a:ext cx="10424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992624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D31245"/>
                </a:solidFill>
                <a:latin typeface="Calibri"/>
              </a:rPr>
              <a:t>Team </a:t>
            </a:r>
            <a:r>
              <a:rPr sz="1400" b="1" dirty="0" err="1">
                <a:solidFill>
                  <a:srgbClr val="D31245"/>
                </a:solidFill>
                <a:latin typeface="Calibri"/>
              </a:rPr>
              <a:t>Synkosys</a:t>
            </a:r>
            <a:r>
              <a:rPr sz="1100" b="1" dirty="0">
                <a:solidFill>
                  <a:srgbClr val="16A34A"/>
                </a:solidFill>
                <a:latin typeface="Calibri"/>
              </a:rPr>
              <a:t>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49240"/>
            <a:ext cx="50292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Muhammad Najib bin Ahmad Azir  </a:t>
            </a:r>
            <a:r>
              <a:rPr sz="900" b="0">
                <a:solidFill>
                  <a:srgbClr val="64748B"/>
                </a:solidFill>
                <a:latin typeface="Calibri"/>
              </a:rPr>
              <a:t>(Team Lead · UiTM)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6A34A"/>
                </a:solidFill>
                <a:latin typeface="Calibri"/>
              </a:rPr>
              <a:t>najibazir12@gmail.com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349240"/>
            <a:ext cx="50292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Mohamad Fathin bin Mohd Zakiyuddin  </a:t>
            </a:r>
            <a:r>
              <a:rPr sz="900" b="0">
                <a:solidFill>
                  <a:srgbClr val="64748B"/>
                </a:solidFill>
                <a:latin typeface="Calibri"/>
              </a:rPr>
              <a:t>(UMP)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6A34A"/>
                </a:solidFill>
                <a:latin typeface="Calibri"/>
              </a:rPr>
              <a:t>fathinzy@gmail.com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769864"/>
            <a:ext cx="50292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Muhammad Muqsith bin Mohd Hairul Wazi  </a:t>
            </a:r>
            <a:r>
              <a:rPr sz="900" b="0">
                <a:solidFill>
                  <a:srgbClr val="64748B"/>
                </a:solidFill>
                <a:latin typeface="Calibri"/>
              </a:rPr>
              <a:t>(UiTM)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6A34A"/>
                </a:solidFill>
                <a:latin typeface="Calibri"/>
              </a:rPr>
              <a:t>mohdmuqsith1996@gmail.com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769864"/>
            <a:ext cx="50292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Leeya Sofea binti Mohd Rizal Izwan  </a:t>
            </a:r>
            <a:r>
              <a:rPr sz="900" b="0">
                <a:solidFill>
                  <a:srgbClr val="64748B"/>
                </a:solidFill>
                <a:latin typeface="Calibri"/>
              </a:rPr>
              <a:t>(UiTM)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6A34A"/>
                </a:solidFill>
                <a:latin typeface="Calibri"/>
              </a:rPr>
              <a:t>leeyasofea199@gmail.com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Sime Darby Property University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3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86599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Malaysia wants to recycle more, but most recyclable waste still ends up in landfill.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D31245"/>
                </a:solidFill>
                <a:latin typeface="Calibri"/>
              </a:rPr>
              <a:t>38,000+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tonnes of waste generated every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14884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97316"/>
                </a:solidFill>
                <a:latin typeface="Calibri"/>
              </a:rPr>
              <a:t>~30%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0175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actual recycling rate (target is 40% by 2025)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214884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6A34A"/>
                </a:solidFill>
                <a:latin typeface="Calibri"/>
              </a:rPr>
              <a:t>~40%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0175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of landfilled waste could be recycled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Why recycling stalls in a township: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4462272"/>
            <a:ext cx="316382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🙋  </a:t>
            </a:r>
            <a:r>
              <a:rPr sz="1500" b="1">
                <a:solidFill>
                  <a:srgbClr val="D31245"/>
                </a:solidFill>
                <a:latin typeface="Calibri"/>
              </a:rPr>
              <a:t>No incentive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effort, no reward → low turnout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29768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4462272"/>
            <a:ext cx="316382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💸  </a:t>
            </a:r>
            <a:r>
              <a:rPr sz="1500" b="1">
                <a:solidFill>
                  <a:srgbClr val="D31245"/>
                </a:solidFill>
                <a:latin typeface="Calibri"/>
              </a:rPr>
              <a:t>Cost centre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seen as pure expense → programmes cut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29768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4462272"/>
            <a:ext cx="316382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🚚  </a:t>
            </a:r>
            <a:r>
              <a:rPr sz="1500" b="1">
                <a:solidFill>
                  <a:srgbClr val="D31245"/>
                </a:solidFill>
                <a:latin typeface="Calibri"/>
              </a:rPr>
              <a:t>Blind collection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fixed routes to half-empty bins → wasted fuel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0819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64748B"/>
                </a:solidFill>
                <a:latin typeface="Calibri"/>
              </a:rPr>
              <a:t>Sources: UNIDO (2025); Asia News Network (2026); KPKT Circular Economy Blueprint 2025 to 2035. Figures indicative.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Synkosys · Sime Darby Property University Hackathon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3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Target User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86599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Three groups, one loop, modelled on real Sime Darby Property communities.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31546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D31245"/>
                </a:solidFill>
                <a:latin typeface="Calibri"/>
              </a:rPr>
              <a:t>🏠  Residents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Calibri"/>
              </a:rPr>
              <a:t>Households in the township. Want convenient recycling and a tangible, everyday reward for taking part.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01168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2240280"/>
            <a:ext cx="31546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D31245"/>
                </a:solidFill>
                <a:latin typeface="Calibri"/>
              </a:rPr>
              <a:t>🏬  Mall tenants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Calibri"/>
              </a:rPr>
              <a:t>F&amp;B and retail outlets (e.g. Elmina Lakeside Mall). Generate bulk packaging waste; want to offset monthly service charges.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01168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2240280"/>
            <a:ext cx="31546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D31245"/>
                </a:solidFill>
                <a:latin typeface="Calibri"/>
              </a:rPr>
              <a:t>🏢  Developer operations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Calibri"/>
              </a:rPr>
              <a:t>Sime Darby Property. Needs operational visibility, lower haulage cost, and measurable ESG / sustainability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Grounded in real locations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City of Elmina (Elmina West / East, Denai Alam, Bukit Subang) · Elmina Lakeside Mall · Bandar Bukit Raja. The concept maps directly onto an existing Sime Darby Property township, not a made-up map.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Synkosys · Sime Darby Property University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3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The Solution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86599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217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Close the loop: recycling becomes a self-funding economy.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603504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000">
                <a:solidFill>
                  <a:srgbClr val="D31245"/>
                </a:solidFill>
                <a:latin typeface="Calibri"/>
              </a:rPr>
              <a:t>●  </a:t>
            </a:r>
            <a:r>
              <a:rPr sz="1500" b="1">
                <a:solidFill>
                  <a:srgbClr val="0F172A"/>
                </a:solidFill>
                <a:latin typeface="Calibri"/>
              </a:rPr>
              <a:t>Scan &amp; earn.  </a:t>
            </a:r>
            <a:r>
              <a:rPr sz="1500">
                <a:solidFill>
                  <a:srgbClr val="475569"/>
                </a:solidFill>
                <a:latin typeface="Calibri"/>
              </a:rPr>
              <a:t>AI verifies the item; residents earn Green Points.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000">
                <a:solidFill>
                  <a:srgbClr val="D31245"/>
                </a:solidFill>
                <a:latin typeface="Calibri"/>
              </a:rPr>
              <a:t>●  </a:t>
            </a:r>
            <a:r>
              <a:rPr sz="1500" b="1">
                <a:solidFill>
                  <a:srgbClr val="0F172A"/>
                </a:solidFill>
                <a:latin typeface="Calibri"/>
              </a:rPr>
              <a:t>Spend like cash.  </a:t>
            </a:r>
            <a:r>
              <a:rPr sz="1500">
                <a:solidFill>
                  <a:srgbClr val="475569"/>
                </a:solidFill>
                <a:latin typeface="Calibri"/>
              </a:rPr>
              <a:t>Redeem GP at mall tenants or offset monthly fees.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000">
                <a:solidFill>
                  <a:srgbClr val="D31245"/>
                </a:solidFill>
                <a:latin typeface="Calibri"/>
              </a:rPr>
              <a:t>●  </a:t>
            </a:r>
            <a:r>
              <a:rPr sz="1500" b="1">
                <a:solidFill>
                  <a:srgbClr val="0F172A"/>
                </a:solidFill>
                <a:latin typeface="Calibri"/>
              </a:rPr>
              <a:t>Funded by savings.  </a:t>
            </a:r>
            <a:r>
              <a:rPr sz="1500">
                <a:solidFill>
                  <a:srgbClr val="475569"/>
                </a:solidFill>
                <a:latin typeface="Calibri"/>
              </a:rPr>
              <a:t>Avoided haulage + material sales + carbon pay for it.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000">
                <a:solidFill>
                  <a:srgbClr val="D31245"/>
                </a:solidFill>
                <a:latin typeface="Calibri"/>
              </a:rPr>
              <a:t>●  </a:t>
            </a:r>
            <a:r>
              <a:rPr sz="1500" b="1">
                <a:solidFill>
                  <a:srgbClr val="0F172A"/>
                </a:solidFill>
                <a:latin typeface="Calibri"/>
              </a:rPr>
              <a:t>Collect smart.  </a:t>
            </a:r>
            <a:r>
              <a:rPr sz="1500">
                <a:solidFill>
                  <a:srgbClr val="475569"/>
                </a:solidFill>
                <a:latin typeface="Calibri"/>
              </a:rPr>
              <a:t>AI dispatches trucks only to full bins.</a:t>
            </a:r>
          </a:p>
        </p:txBody>
      </p:sp>
      <p:pic>
        <p:nvPicPr>
          <p:cNvPr id="9" name="Picture 8" descr="resident-drop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772364"/>
            <a:ext cx="4709160" cy="367903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949440" y="1772364"/>
            <a:ext cx="4709160" cy="3679031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0" y="58064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Resident Scan &amp; Drop-off (live prototype)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Synkosys · Sime Darby Property University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3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Innovation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86599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A funded, verified, intelligent loop, not just another points app.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5029200" cy="74980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6035040" cy="749808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663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75569"/>
                </a:solidFill>
                <a:latin typeface="Calibri"/>
              </a:rPr>
              <a:t>Typical recycling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965960"/>
            <a:ext cx="56692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GreenLoop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15768"/>
            <a:ext cx="5029200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77840" y="2715768"/>
            <a:ext cx="6035040" cy="749808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715768"/>
            <a:ext cx="4663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✗  Points with no funding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715768"/>
            <a:ext cx="56692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✓  </a:t>
            </a:r>
            <a:r>
              <a:rPr sz="1250" b="0">
                <a:solidFill>
                  <a:srgbClr val="0F172A"/>
                </a:solidFill>
                <a:latin typeface="Calibri"/>
              </a:rPr>
              <a:t>Rewards funded by avoided haulage + material sales + carbon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65576"/>
            <a:ext cx="5029200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77840" y="3465576"/>
            <a:ext cx="6035040" cy="749808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465576"/>
            <a:ext cx="4663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✗  “Trust me, it's recyclable”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465576"/>
            <a:ext cx="56692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✓  </a:t>
            </a:r>
            <a:r>
              <a:rPr sz="1250" b="0">
                <a:solidFill>
                  <a:srgbClr val="0F172A"/>
                </a:solidFill>
                <a:latin typeface="Calibri"/>
              </a:rPr>
              <a:t>AI vision verifies each item before it's accepted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15384"/>
            <a:ext cx="5029200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77840" y="4215384"/>
            <a:ext cx="6035040" cy="749808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215384"/>
            <a:ext cx="4663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✗  Fixed truck routes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215384"/>
            <a:ext cx="56692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✓  </a:t>
            </a:r>
            <a:r>
              <a:rPr sz="1250" b="0">
                <a:solidFill>
                  <a:srgbClr val="0F172A"/>
                </a:solidFill>
                <a:latin typeface="Calibri"/>
              </a:rPr>
              <a:t>Live AI dispatch to full bins only, on real road routing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65192"/>
            <a:ext cx="5029200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577840" y="4965192"/>
            <a:ext cx="6035040" cy="749808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965192"/>
            <a:ext cx="4663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✗  One user 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965192"/>
            <a:ext cx="56692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✓  </a:t>
            </a:r>
            <a:r>
              <a:rPr sz="1250" b="0">
                <a:solidFill>
                  <a:srgbClr val="0F172A"/>
                </a:solidFill>
                <a:latin typeface="Calibri"/>
              </a:rPr>
              <a:t>Residents and mall tenants served by one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Synkosys · Sime Darby Property University Hackathon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567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3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How It Works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84048"/>
            <a:ext cx="86599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Residents → Hubs → Operators → Rewards · one closed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 · Scan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Resident scans item; AI vision verifies it's recyclable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63824" y="2532888"/>
            <a:ext cx="274320" cy="27432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93008" y="214884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 · Drop at Smart Hub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Pair via hub QR; item accepted, GP credited instantly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16752" y="2532888"/>
            <a:ext cx="274320" cy="27432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45936" y="214884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· AI Dispatch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Bin fills; at 80% the system schedules a truck to full bins only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69680" y="2532888"/>
            <a:ext cx="274320" cy="27432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98864" y="214884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 · Recover &amp; Sell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Material diverted from landfill and sold to recyclers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469880" y="3291839"/>
            <a:ext cx="256032" cy="532735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202059" y="3946060"/>
            <a:ext cx="4588476" cy="1755648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5 · Value funds the loop  ↺</a:t>
            </a:r>
          </a:p>
          <a:p>
            <a:pPr algn="ctr"/>
            <a:r>
              <a:rPr sz="950" dirty="0">
                <a:solidFill>
                  <a:srgbClr val="FFFFFF"/>
                </a:solidFill>
                <a:latin typeface="Calibri"/>
              </a:rPr>
              <a:t>Avoided haulage + material sales + carbon value fund the Green Points and fee offsets. Residents redeem, and the loop repeats.</a:t>
            </a:r>
          </a:p>
        </p:txBody>
      </p:sp>
      <p:pic>
        <p:nvPicPr>
          <p:cNvPr id="17" name="Picture 16" descr="resident-hub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83" y="3502382"/>
            <a:ext cx="2815137" cy="219932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70983" y="3502382"/>
            <a:ext cx="2815137" cy="2199326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ops-logist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521" y="3502382"/>
            <a:ext cx="2815137" cy="219932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936521" y="3502382"/>
            <a:ext cx="2815137" cy="2199326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Synkosys · Sime Darby Property University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3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Impact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86599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Measurable outcomes, honest about what's demonstrated vs projected.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361188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194560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🌱  Environmental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3209544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50">
                <a:solidFill>
                  <a:srgbClr val="16A34A"/>
                </a:solidFill>
                <a:latin typeface="Calibri"/>
              </a:rPr>
              <a:t>●  </a:t>
            </a:r>
            <a:r>
              <a:rPr sz="1250">
                <a:solidFill>
                  <a:srgbClr val="475569"/>
                </a:solidFill>
                <a:latin typeface="Calibri"/>
              </a:rPr>
              <a:t>Tonnes of recyclables diverted from landfill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50">
                <a:solidFill>
                  <a:srgbClr val="16A34A"/>
                </a:solidFill>
                <a:latin typeface="Calibri"/>
              </a:rPr>
              <a:t>●  </a:t>
            </a:r>
            <a:r>
              <a:rPr sz="1250">
                <a:solidFill>
                  <a:srgbClr val="475569"/>
                </a:solidFill>
                <a:latin typeface="Calibri"/>
              </a:rPr>
              <a:t>CO₂e avoided (carbon / ESG value)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50">
                <a:solidFill>
                  <a:srgbClr val="16A34A"/>
                </a:solidFill>
                <a:latin typeface="Calibri"/>
              </a:rPr>
              <a:t>●  </a:t>
            </a:r>
            <a:r>
              <a:rPr sz="1250">
                <a:solidFill>
                  <a:srgbClr val="475569"/>
                </a:solidFill>
                <a:latin typeface="Calibri"/>
              </a:rPr>
              <a:t>Supports the national 40% recycling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96596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965960"/>
            <a:ext cx="3611880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53128" y="2194560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97316"/>
                </a:solidFill>
                <a:latin typeface="Calibri"/>
              </a:rPr>
              <a:t>🤝  Community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697480"/>
            <a:ext cx="3209544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50">
                <a:solidFill>
                  <a:srgbClr val="F97316"/>
                </a:solidFill>
                <a:latin typeface="Calibri"/>
              </a:rPr>
              <a:t>●  </a:t>
            </a:r>
            <a:r>
              <a:rPr sz="1250">
                <a:solidFill>
                  <a:srgbClr val="475569"/>
                </a:solidFill>
                <a:latin typeface="Calibri"/>
              </a:rPr>
              <a:t>Residents earn Green Points for everyday recycling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50">
                <a:solidFill>
                  <a:srgbClr val="F97316"/>
                </a:solidFill>
                <a:latin typeface="Calibri"/>
              </a:rPr>
              <a:t>●  </a:t>
            </a:r>
            <a:r>
              <a:rPr sz="1250">
                <a:solidFill>
                  <a:srgbClr val="475569"/>
                </a:solidFill>
                <a:latin typeface="Calibri"/>
              </a:rPr>
              <a:t>GP offsets maintenance fees / mall charges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50">
                <a:solidFill>
                  <a:srgbClr val="F97316"/>
                </a:solidFill>
                <a:latin typeface="Calibri"/>
              </a:rPr>
              <a:t>●  </a:t>
            </a:r>
            <a:r>
              <a:rPr sz="1250">
                <a:solidFill>
                  <a:srgbClr val="475569"/>
                </a:solidFill>
                <a:latin typeface="Calibri"/>
              </a:rPr>
              <a:t>Higher, sustained participation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96596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80" y="1965960"/>
            <a:ext cx="361188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2194560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⚙️  Operational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697480"/>
            <a:ext cx="3209544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50">
                <a:solidFill>
                  <a:srgbClr val="2563EB"/>
                </a:solidFill>
                <a:latin typeface="Calibri"/>
              </a:rPr>
              <a:t>●  </a:t>
            </a:r>
            <a:r>
              <a:rPr sz="1250">
                <a:solidFill>
                  <a:srgbClr val="475569"/>
                </a:solidFill>
                <a:latin typeface="Calibri"/>
              </a:rPr>
              <a:t>Lower haulage cost (collect full bins only)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50">
                <a:solidFill>
                  <a:srgbClr val="2563EB"/>
                </a:solidFill>
                <a:latin typeface="Calibri"/>
              </a:rPr>
              <a:t>●  </a:t>
            </a:r>
            <a:r>
              <a:rPr sz="1250">
                <a:solidFill>
                  <a:srgbClr val="475569"/>
                </a:solidFill>
                <a:latin typeface="Calibri"/>
              </a:rPr>
              <a:t>Live visibility of hub capacity &amp; fleet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50">
                <a:solidFill>
                  <a:srgbClr val="2563EB"/>
                </a:solidFill>
                <a:latin typeface="Calibri"/>
              </a:rPr>
              <a:t>●  </a:t>
            </a:r>
            <a:r>
              <a:rPr sz="1250">
                <a:solidFill>
                  <a:srgbClr val="475569"/>
                </a:solidFill>
                <a:latin typeface="Calibri"/>
              </a:rPr>
              <a:t>A self-funding programme, not a one-off campaign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20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✓ DEMONSTRATED  </a:t>
            </a:r>
            <a:r>
              <a:rPr sz="1000" b="0">
                <a:solidFill>
                  <a:srgbClr val="475569"/>
                </a:solidFill>
                <a:latin typeface="Calibri"/>
              </a:rPr>
              <a:t>in the prototype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Working AI scan, Green Points economy, live AI dispatch and a 6-hub map.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45720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470916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~ MODELLED  </a:t>
            </a:r>
            <a:r>
              <a:rPr sz="1000" b="0">
                <a:solidFill>
                  <a:srgbClr val="475569"/>
                </a:solidFill>
                <a:latin typeface="Calibri"/>
              </a:rPr>
              <a:t>projection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Township diversion ~10.9 t/mo and an operating surplus (indicative ROI model).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45720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EE2E8"/>
          </a:solidFill>
          <a:ln w="12700">
            <a:solidFill>
              <a:srgbClr val="D31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470916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D31245"/>
                </a:solidFill>
                <a:latin typeface="Calibri"/>
              </a:rPr>
              <a:t>! NEEDS VALIDATION  </a:t>
            </a:r>
            <a:r>
              <a:rPr sz="1000" b="0">
                <a:solidFill>
                  <a:srgbClr val="475569"/>
                </a:solidFill>
                <a:latin typeface="Calibri"/>
              </a:rPr>
              <a:t>with partners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Bin hardware, real haulage cost, recycler prices and carbon monetisation.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Synkosys · Sime Darby Property University Hackathon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3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Business Case · the numbers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86599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Transparent monthly economics for the township network (indicative model, reconciles with the live dashboard).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A34A"/>
                </a:solidFill>
                <a:latin typeface="Calibri"/>
              </a:rPr>
              <a:t>Material sales (to recyclers)</a:t>
            </a:r>
            <a:r>
              <a:rPr sz="1000" b="0">
                <a:solidFill>
                  <a:srgbClr val="64748B"/>
                </a:solidFill>
                <a:latin typeface="Calibri"/>
              </a:rPr>
              <a:t> cash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659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0">
                <a:solidFill>
                  <a:srgbClr val="16A34A"/>
                </a:solidFill>
                <a:latin typeface="Calibri"/>
              </a:rPr>
              <a:t>+ RM 19,662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16810"/>
            <a:ext cx="6766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A34A"/>
                </a:solidFill>
                <a:latin typeface="Calibri"/>
              </a:rPr>
              <a:t>Avoided haulage</a:t>
            </a:r>
            <a:r>
              <a:rPr sz="1000" b="0">
                <a:solidFill>
                  <a:srgbClr val="64748B"/>
                </a:solidFill>
                <a:latin typeface="Calibri"/>
              </a:rPr>
              <a:t> assumption · RM230/t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423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0">
                <a:solidFill>
                  <a:srgbClr val="16A34A"/>
                </a:solidFill>
                <a:latin typeface="Calibri"/>
              </a:rPr>
              <a:t>+ RM 2,508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74010"/>
            <a:ext cx="6766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A34A"/>
                </a:solidFill>
                <a:latin typeface="Calibri"/>
              </a:rPr>
              <a:t>Carbon / ESG value</a:t>
            </a:r>
            <a:r>
              <a:rPr sz="1000" b="0">
                <a:solidFill>
                  <a:srgbClr val="64748B"/>
                </a:solidFill>
                <a:latin typeface="Calibri"/>
              </a:rPr>
              <a:t> est. · RM90/t CO₂e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8803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0">
                <a:solidFill>
                  <a:srgbClr val="16A34A"/>
                </a:solidFill>
                <a:latin typeface="Calibri"/>
              </a:rPr>
              <a:t>+ RM 1,767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31210"/>
            <a:ext cx="6766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6766560" cy="4572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Total monthly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3375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RM 23,936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88410"/>
            <a:ext cx="6766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Operating cost</a:t>
            </a:r>
            <a:r>
              <a:rPr sz="1000" b="0">
                <a:solidFill>
                  <a:srgbClr val="64748B"/>
                </a:solidFill>
                <a:latin typeface="Calibri"/>
              </a:rPr>
              <a:t> staff, utilities, upkeep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7947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0">
                <a:solidFill>
                  <a:srgbClr val="D31245"/>
                </a:solidFill>
                <a:latin typeface="Calibri"/>
              </a:rPr>
              <a:t>− RM 4,200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45610"/>
            <a:ext cx="6766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2519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Green Points redeemed</a:t>
            </a:r>
            <a:r>
              <a:rPr sz="1000" b="0">
                <a:solidFill>
                  <a:srgbClr val="64748B"/>
                </a:solidFill>
                <a:latin typeface="Calibri"/>
              </a:rPr>
              <a:t> 65% of issued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2519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0">
                <a:solidFill>
                  <a:srgbClr val="D31245"/>
                </a:solidFill>
                <a:latin typeface="Calibri"/>
              </a:rPr>
              <a:t>− RM 4,931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02810"/>
            <a:ext cx="6766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709160"/>
            <a:ext cx="676656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Net monthly cash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709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RM 14,805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60010"/>
            <a:ext cx="6766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8640" y="5257800"/>
            <a:ext cx="6766560" cy="640080"/>
          </a:xfrm>
          <a:prstGeom prst="roundRect">
            <a:avLst>
              <a:gd name="adj" fmla="val 6000"/>
            </a:avLst>
          </a:prstGeom>
          <a:solidFill>
            <a:srgbClr val="064E3B"/>
          </a:solidFill>
          <a:ln w="12700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2578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Setup RM 85,000  ÷  RM 14,805 net / month  ≈  </a:t>
            </a:r>
            <a:r>
              <a:rPr sz="1350" b="1">
                <a:solidFill>
                  <a:srgbClr val="FFD76B"/>
                </a:solidFill>
                <a:latin typeface="Calibri"/>
              </a:rPr>
              <a:t>5.7-month simple payback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1965960"/>
            <a:ext cx="4114800" cy="15544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35240" y="2167128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16A34A"/>
                </a:solidFill>
                <a:latin typeface="Calibri"/>
              </a:rPr>
              <a:t>10.9 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0175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diverted per month (township, 6 hubs)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379476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44968" y="3931920"/>
            <a:ext cx="37124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97316"/>
                </a:solidFill>
                <a:latin typeface="Calibri"/>
              </a:rPr>
              <a:t>Conservative case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Even with carbon value removed, net ≈ RM 13,000/mo → payback ~6.5 months. Still self-funding.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43800" y="5303520"/>
            <a:ext cx="411480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44968" y="5394960"/>
            <a:ext cx="37124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RM230/t avoided-haulage is an assumption pending validation with Sime Darby's waste contractor. Figures are indicative, not audited.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Synkosys · Sime Darby Property University Hackathon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3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Visual Concept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86599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One working ecosystem: resident app, smart bin, and the operator's command centre.</a:t>
            </a:r>
          </a:p>
        </p:txBody>
      </p:sp>
      <p:pic>
        <p:nvPicPr>
          <p:cNvPr id="8" name="Picture 7" descr="recyclehub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3828"/>
            <a:ext cx="3520440" cy="27503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2053828"/>
            <a:ext cx="3520440" cy="2750343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64748B"/>
                </a:solidFill>
                <a:latin typeface="Calibri"/>
              </a:rPr>
              <a:t>Smart Recycle Bin + QR station</a:t>
            </a:r>
          </a:p>
        </p:txBody>
      </p:sp>
      <p:pic>
        <p:nvPicPr>
          <p:cNvPr id="11" name="Picture 10" descr="ops-metrics-proj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053828"/>
            <a:ext cx="3520440" cy="275034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43400" y="2053828"/>
            <a:ext cx="3520440" cy="2750343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498348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64748B"/>
                </a:solidFill>
                <a:latin typeface="Calibri"/>
              </a:rPr>
              <a:t>Diversion metrics (actual vs projected)</a:t>
            </a:r>
          </a:p>
        </p:txBody>
      </p:sp>
      <p:pic>
        <p:nvPicPr>
          <p:cNvPr id="14" name="Picture 13" descr="ops-led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053828"/>
            <a:ext cx="3520440" cy="275034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138160" y="2053828"/>
            <a:ext cx="3520440" cy="2750343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498348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64748B"/>
                </a:solidFill>
                <a:latin typeface="Calibri"/>
              </a:rPr>
              <a:t>Hub economics (business case)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064E3B"/>
          </a:solidFill>
          <a:ln w="12700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59612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Try the live prototype:  greenloop-tan.vercel.app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Synkosys · Sime Darby Property University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0" y="914400"/>
            <a:ext cx="14630400" cy="8229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360842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916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Why Team Synkosys Should Win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984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1014984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GreenLoop connects AI-assisted recycling, resident rewards and smarter collection into one township ecosystem, tackling both participation and the cost of collection, not just one of them. We've built a deployed, interactive prototype and a one-hub pilot model for Elmina West, and we're transparent about what's demonstrated versus what still needs real-world validation.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31245"/>
                </a:solidFill>
                <a:latin typeface="Calibri"/>
              </a:rPr>
              <a:t>Our ask: a one-hub pilot at Elmina West + access to operational data, so we can measure actual diversion, collection savings and payback before scaling across the township.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658368"/>
          </a:xfrm>
          <a:prstGeom prst="roundRect">
            <a:avLst>
              <a:gd name="adj" fmla="val 6000"/>
            </a:avLst>
          </a:prstGeom>
          <a:solidFill>
            <a:srgbClr val="064E3B"/>
          </a:solidFill>
          <a:ln w="12700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82803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1">
                <a:solidFill>
                  <a:srgbClr val="FFFFFF"/>
                </a:solidFill>
                <a:latin typeface="Calibri"/>
              </a:rPr>
              <a:t>Give us one hub and the data, and we'll prove it pays for itself.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965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D31245"/>
                </a:solidFill>
                <a:latin typeface="Calibri"/>
              </a:rPr>
              <a:t>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5623560"/>
            <a:ext cx="1965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D31245"/>
                </a:solidFill>
                <a:latin typeface="Calibri"/>
              </a:rPr>
              <a:t>Innovation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5623560"/>
            <a:ext cx="1965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D31245"/>
                </a:solidFill>
                <a:latin typeface="Calibri"/>
              </a:rPr>
              <a:t>Feasibility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5623560"/>
            <a:ext cx="1965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D31245"/>
                </a:solidFill>
                <a:latin typeface="Calibri"/>
              </a:rPr>
              <a:t>Strategic 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5623560"/>
            <a:ext cx="1965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D31245"/>
                </a:solidFill>
                <a:latin typeface="Calibri"/>
              </a:rPr>
              <a:t>Commercial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9963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Live demo: greenloop-tan.vercel.app   ·   Code: github.com/NajibAzir/greenloop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840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Supporting detail: business case, analytics, tech &amp; judging-criteria 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3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Business case &amp; assumptions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86599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Indicative Malaysian benchmarks (2024). Stated openly, not audited financials.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1064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2976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Avoided landfill &amp; haulage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920240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RM 230 / tonne diverted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95728"/>
            <a:ext cx="11064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42976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Carbon / ESG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95728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RM 90 / tonne CO₂e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71216"/>
            <a:ext cx="11064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871216"/>
            <a:ext cx="42976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Hub operating cost (opex)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871216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RM 4,200 /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46704"/>
            <a:ext cx="11064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346704"/>
            <a:ext cx="42976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One-time setup (CapEx)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346704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RM 85,000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22192"/>
            <a:ext cx="11064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822192"/>
            <a:ext cx="42976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Green Point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822192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RM 0.10 per GP (10 GP = RM 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11064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42976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GP redemption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297680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65% of issued GP redeemed for cash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73168"/>
            <a:ext cx="11064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773168"/>
            <a:ext cx="42976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Assumed volume 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773168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8% per month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248656"/>
            <a:ext cx="11064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248656"/>
            <a:ext cx="42976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Bulk prices (sold to recyclers)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248656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Aluminium RM4.2 · E-waste RM12 · PET RM1.1 · Paper RM0.55 · Cardboard RM0.45 /kg</a:t>
            </a:r>
          </a:p>
        </p:txBody>
      </p:sp>
      <p:pic>
        <p:nvPicPr>
          <p:cNvPr id="32" name="Picture 31" descr="ops-led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708" y="2084832"/>
            <a:ext cx="4038171" cy="3154821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7574708" y="2084832"/>
            <a:ext cx="4038171" cy="3154821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Synkosys · Sime Darby Property University Hackathon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3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Pilot plan · Elmina West (one hub)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86599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Prove it at one hub, then scale precinct by precinct.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2651760" cy="9144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103120"/>
            <a:ext cx="232257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31245"/>
                </a:solidFill>
                <a:latin typeface="Calibri"/>
              </a:rPr>
              <a:t>Month 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Install &amp; integrate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Smart Hub + bin hardware; link mall-tenant rewards and resident sign-up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92024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19272" y="1920240"/>
            <a:ext cx="2651760" cy="9144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83864" y="2103120"/>
            <a:ext cx="232257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31245"/>
                </a:solidFill>
                <a:latin typeface="Calibri"/>
              </a:rPr>
              <a:t>Month 2-3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Run &amp; measure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Residents recycle; track diversion, participation and real cost vs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92024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9904" y="1920240"/>
            <a:ext cx="2651760" cy="9144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2103120"/>
            <a:ext cx="232257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31245"/>
                </a:solidFill>
                <a:latin typeface="Calibri"/>
              </a:rPr>
              <a:t>Month 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Review (go / no-go)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Compare actuals to assumptions; confirm payback and surplus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0536" y="192024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60536" y="1920240"/>
            <a:ext cx="2651760" cy="9144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25128" y="2103120"/>
            <a:ext cx="232257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31245"/>
                </a:solidFill>
                <a:latin typeface="Calibri"/>
              </a:rPr>
              <a:t>Month 5+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Scale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Roll out to Elmina East, Denai Alam, Lakeside Mall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593592"/>
            <a:ext cx="5074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31245"/>
                </a:solidFill>
                <a:latin typeface="Calibri"/>
              </a:rPr>
              <a:t>Who does what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Sime Darby Property hosts &amp; operates the hub · waste contractor collects · recyclers buy material · mall tenants fund part of the rewards.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4747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593592"/>
            <a:ext cx="5074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31245"/>
                </a:solidFill>
                <a:latin typeface="Calibri"/>
              </a:rPr>
              <a:t>How recyclables are weighed &amp; paid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Smart-bin load cells weigh each drop; GP credited by material × weight; material sold by the kg to contracted recyclers.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463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074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31245"/>
                </a:solidFill>
                <a:latin typeface="Calibri"/>
              </a:rPr>
              <a:t>Go / no-go metrics (Month 4)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kg diverted · participation % · verified haulage saving · net monthly surplus · payback trend.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8463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965192"/>
            <a:ext cx="5074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31245"/>
                </a:solidFill>
                <a:latin typeface="Calibri"/>
              </a:rPr>
              <a:t>Needs validation before deployment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Bin hardware · real contractor rates (RM/t) · recycler prices · POS/voucher integration · resident identity &amp; PDPA.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Synkosys · Sime Darby Property University Hackathon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3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AI &amp; system status · honest boundary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86599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What is genuinely working today vs. what still needs building.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✓  Working in the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3209544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600">
                <a:solidFill>
                  <a:srgbClr val="16A34A"/>
                </a:solidFill>
                <a:latin typeface="Calibri"/>
              </a:rPr>
              <a:t>●  </a:t>
            </a:r>
            <a:r>
              <a:rPr sz="1100">
                <a:solidFill>
                  <a:srgbClr val="475569"/>
                </a:solidFill>
                <a:latin typeface="Calibri"/>
              </a:rPr>
              <a:t>TensorFlow.js COCO-SSD runs live on webcam / uploaded photos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600">
                <a:solidFill>
                  <a:srgbClr val="16A34A"/>
                </a:solidFill>
                <a:latin typeface="Calibri"/>
              </a:rPr>
              <a:t>●  </a:t>
            </a:r>
            <a:r>
              <a:rPr sz="1100">
                <a:solidFill>
                  <a:srgbClr val="475569"/>
                </a:solidFill>
                <a:latin typeface="Calibri"/>
              </a:rPr>
              <a:t>Green Points economy, wallet, redemption &amp; fee offset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600">
                <a:solidFill>
                  <a:srgbClr val="16A34A"/>
                </a:solidFill>
                <a:latin typeface="Calibri"/>
              </a:rPr>
              <a:t>●  </a:t>
            </a:r>
            <a:r>
              <a:rPr sz="1100">
                <a:solidFill>
                  <a:srgbClr val="475569"/>
                </a:solidFill>
                <a:latin typeface="Calibri"/>
              </a:rPr>
              <a:t>Dispatch sim on real roads (OSRM) + 6-hub Leaflet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96596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2130552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97316"/>
                </a:solidFill>
                <a:latin typeface="Calibri"/>
              </a:rPr>
              <a:t>~  Simulated in the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651760"/>
            <a:ext cx="3209544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600">
                <a:solidFill>
                  <a:srgbClr val="F97316"/>
                </a:solidFill>
                <a:latin typeface="Calibri"/>
              </a:rPr>
              <a:t>●  </a:t>
            </a:r>
            <a:r>
              <a:rPr sz="1100">
                <a:solidFill>
                  <a:srgbClr val="475569"/>
                </a:solidFill>
                <a:latin typeface="Calibri"/>
              </a:rPr>
              <a:t>Bin fill levels &amp; sensor weights (demo values)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600">
                <a:solidFill>
                  <a:srgbClr val="F97316"/>
                </a:solidFill>
                <a:latin typeface="Calibri"/>
              </a:rPr>
              <a:t>●  </a:t>
            </a:r>
            <a:r>
              <a:rPr sz="1100">
                <a:solidFill>
                  <a:srgbClr val="475569"/>
                </a:solidFill>
                <a:latin typeface="Calibri"/>
              </a:rPr>
              <a:t>Two-camera cheat check (entry vs inside): concept shown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600">
                <a:solidFill>
                  <a:srgbClr val="F97316"/>
                </a:solidFill>
                <a:latin typeface="Calibri"/>
              </a:rPr>
              <a:t>●  </a:t>
            </a:r>
            <a:r>
              <a:rPr sz="1100">
                <a:solidFill>
                  <a:srgbClr val="475569"/>
                </a:solidFill>
                <a:latin typeface="Calibri"/>
              </a:rPr>
              <a:t>Township ROI from an indicative, tunable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96596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FEE2E8"/>
          </a:solidFill>
          <a:ln w="12700">
            <a:solidFill>
              <a:srgbClr val="D31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56448" y="2130552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31245"/>
                </a:solidFill>
                <a:latin typeface="Calibri"/>
              </a:rPr>
              <a:t>!  Needs real-world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651760"/>
            <a:ext cx="3209544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600">
                <a:solidFill>
                  <a:srgbClr val="D31245"/>
                </a:solidFill>
                <a:latin typeface="Calibri"/>
              </a:rPr>
              <a:t>●  </a:t>
            </a:r>
            <a:r>
              <a:rPr sz="1100">
                <a:solidFill>
                  <a:srgbClr val="475569"/>
                </a:solidFill>
                <a:latin typeface="Calibri"/>
              </a:rPr>
              <a:t>A recyclability/material classifier trained on real items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600">
                <a:solidFill>
                  <a:srgbClr val="D31245"/>
                </a:solidFill>
                <a:latin typeface="Calibri"/>
              </a:rPr>
              <a:t>●  </a:t>
            </a:r>
            <a:r>
              <a:rPr sz="1100">
                <a:solidFill>
                  <a:srgbClr val="475569"/>
                </a:solidFill>
                <a:latin typeface="Calibri"/>
              </a:rPr>
              <a:t>Physical reverse-vending / smart-bin hardware + load cells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600">
                <a:solidFill>
                  <a:srgbClr val="D31245"/>
                </a:solidFill>
                <a:latin typeface="Calibri"/>
              </a:rPr>
              <a:t>●  </a:t>
            </a:r>
            <a:r>
              <a:rPr sz="1100">
                <a:solidFill>
                  <a:srgbClr val="475569"/>
                </a:solidFill>
                <a:latin typeface="Calibri"/>
              </a:rPr>
              <a:t>POS/voucher + resident-identity + telemetry 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138928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On AI accuracy &amp; anti-cheat:  </a:t>
            </a:r>
            <a:r>
              <a:rPr sz="1150" b="0">
                <a:solidFill>
                  <a:srgbClr val="475569"/>
                </a:solidFill>
                <a:latin typeface="Calibri"/>
              </a:rPr>
              <a:t>the current demo detects common objects (bottle, can, cup, phone); it does not yet confirm material purity. Production needs a recyclability classifier validated on real items, plus the two-camera entry/inside check to stop re-scanning the same item without depositing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Synkosys · Sime Darby Property University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3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Operator analytics &amp; network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86599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ops-hubst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1554480"/>
            <a:ext cx="4564684" cy="3566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63778" y="1554480"/>
            <a:ext cx="4564684" cy="3566160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64748B"/>
                </a:solidFill>
                <a:latin typeface="Calibri"/>
              </a:rPr>
              <a:t>Hub Stat · day / month / year, respects 09:00 to 17:00 hours</a:t>
            </a:r>
          </a:p>
        </p:txBody>
      </p:sp>
      <p:pic>
        <p:nvPicPr>
          <p:cNvPr id="10" name="Picture 9" descr="hub-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1554480"/>
            <a:ext cx="4564684" cy="35661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678778" y="1554480"/>
            <a:ext cx="4564684" cy="3566160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52120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64748B"/>
                </a:solidFill>
                <a:latin typeface="Calibri"/>
              </a:rPr>
              <a:t>Recycle Hub network (6 hubs, City of Elmina + Bandar Bukit Raja)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Tech stack: </a:t>
            </a:r>
            <a:r>
              <a:rPr sz="1200" b="0">
                <a:solidFill>
                  <a:srgbClr val="475569"/>
                </a:solidFill>
                <a:latin typeface="Calibri"/>
              </a:rPr>
              <a:t>React + Vite · Tailwind · TensorFlow.js COCO-SSD (in-browser vision) · OSRM road routing · Leaflet maps · Recharts. All client-side; no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Synkosys · Sime Darby Property University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3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How we meet the judging criteria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865991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37360"/>
            <a:ext cx="83210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79552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Environmental (diversion, CO₂), community (rewards, participation) and operational (cost, visibility) outcomes.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50592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450592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Innovation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450592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450592"/>
            <a:ext cx="79552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AI item verification + funded reward model + live AI dispatch in one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63824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163824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163824"/>
            <a:ext cx="83210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3163824"/>
            <a:ext cx="79552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Deployed working prototype; realistic one-hub pilot; clear validation checklist.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77056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877056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Strategic fit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877056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0" y="3877056"/>
            <a:ext cx="79552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Built on real Sime Darby Property townships; supports ESG and SHIFT25 goals.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90288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590288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Commercial 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590288"/>
            <a:ext cx="83210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4590288"/>
            <a:ext cx="79552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Self-funding business case: operating surplus + CapEx payback, not a subsidy.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03520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530352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Team &amp; pitch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30352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5303520"/>
            <a:ext cx="79552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A focused team shipping a real, honest, demoable product.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Synkosys · Sime Darby Property University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1937</Words>
  <Application>Microsoft Office PowerPoint</Application>
  <PresentationFormat>Widescreen</PresentationFormat>
  <Paragraphs>242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NAJIB BIN AHMAD AZIR</cp:lastModifiedBy>
  <cp:revision>2</cp:revision>
  <dcterms:created xsi:type="dcterms:W3CDTF">2013-01-27T09:14:16Z</dcterms:created>
  <dcterms:modified xsi:type="dcterms:W3CDTF">2026-10-20T18:01:52Z</dcterms:modified>
  <cp:category/>
</cp:coreProperties>
</file>