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CFF"/>
    <a:srgbClr val="CCFFFF"/>
    <a:srgbClr val="FEF3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732" autoAdjust="0"/>
  </p:normalViewPr>
  <p:slideViewPr>
    <p:cSldViewPr snapToGrid="0" snapToObjects="1">
      <p:cViewPr>
        <p:scale>
          <a:sx n="90" d="100"/>
          <a:sy n="90" d="100"/>
        </p:scale>
        <p:origin x="370" y="-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DB328-4870-4863-860B-30354422FEC5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C4E7E-6978-4382-B39A-1E2DD0C947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762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51C4E7E-6978-4382-B39A-1E2DD0C9479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734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49039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BD5E1"/>
                </a:solidFill>
                <a:latin typeface="Calibri"/>
              </a:rPr>
              <a:t>GreenLoop · Team Synkosys · supporting detail for the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Business case &amp; assumptions</a:t>
            </a:r>
          </a:p>
        </p:txBody>
      </p:sp>
      <p:pic>
        <p:nvPicPr>
          <p:cNvPr id="5" name="Picture 4" descr="greenloop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402336"/>
            <a:ext cx="841248" cy="621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234440"/>
            <a:ext cx="11064240" cy="30480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Indicative Malaysian benchmarks (2024). Stated openly, not audited financials.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6309360" cy="512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Avoided landfill &amp; haulage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1920240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230 / tonne diverted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32304"/>
            <a:ext cx="63093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Carbon / ESG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432304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90 / tonne CO₂e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44368"/>
            <a:ext cx="6309360" cy="512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944368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Hub operating cost (opex)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944368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4,200 / month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56432"/>
            <a:ext cx="63093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456432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One-time setup (CapEx)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456432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85,000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68496"/>
            <a:ext cx="6309360" cy="512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3968496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Green Point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968496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0.10 per GP (10 GP = RM 1)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80560"/>
            <a:ext cx="63093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GP redemption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80560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65% of issued GP redeemed for cash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992624"/>
            <a:ext cx="6309360" cy="512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992624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Assumed volume growth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4992624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8% per month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504688"/>
            <a:ext cx="63093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504688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Bulk price: aluminium / e-waste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5504688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4.2 / RM 12 per kg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016752"/>
            <a:ext cx="6309360" cy="51206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6016752"/>
            <a:ext cx="29260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Bulk price: PET / paper / cardboard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6016752"/>
            <a:ext cx="310896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RM 1.1 / 0.55 / 0.45 per kg</a:t>
            </a:r>
          </a:p>
        </p:txBody>
      </p:sp>
      <p:pic>
        <p:nvPicPr>
          <p:cNvPr id="35" name="Picture 34" descr="ops-led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209562"/>
            <a:ext cx="4526280" cy="353615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6" name="Rectangle 35"/>
          <p:cNvSpPr/>
          <p:nvPr/>
        </p:nvSpPr>
        <p:spPr>
          <a:xfrm>
            <a:off x="7086600" y="2209562"/>
            <a:ext cx="4526280" cy="3536156"/>
          </a:xfrm>
          <a:prstGeom prst="rect">
            <a:avLst/>
          </a:prstGeom>
          <a:noFill/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GreenLoop · Team Synkosys · Sime Darby Property University Hackathon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644652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Appendix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/>
          <p:cNvSpPr/>
          <p:nvPr/>
        </p:nvSpPr>
        <p:spPr>
          <a:xfrm>
            <a:off x="6210678" y="1627491"/>
            <a:ext cx="5752165" cy="34212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402942" y="1645920"/>
            <a:ext cx="5752165" cy="34212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AI &amp; system status · honest boundary</a:t>
            </a:r>
          </a:p>
        </p:txBody>
      </p:sp>
      <p:pic>
        <p:nvPicPr>
          <p:cNvPr id="5" name="Picture 4" descr="greenloop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402336"/>
            <a:ext cx="841248" cy="621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234440"/>
            <a:ext cx="11064240" cy="30480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209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dirty="0">
                <a:solidFill>
                  <a:srgbClr val="0F172A"/>
                </a:solidFill>
                <a:latin typeface="Calibri"/>
              </a:rPr>
              <a:t>What is genuinely working today vs. what still needs building.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504636" y="2057441"/>
            <a:ext cx="2693324" cy="2834640"/>
            <a:chOff x="548640" y="1965960"/>
            <a:chExt cx="2693324" cy="2834640"/>
          </a:xfrm>
        </p:grpSpPr>
        <p:sp>
          <p:nvSpPr>
            <p:cNvPr id="8" name="Rounded Rectangle 7"/>
            <p:cNvSpPr/>
            <p:nvPr/>
          </p:nvSpPr>
          <p:spPr>
            <a:xfrm>
              <a:off x="548640" y="1965960"/>
              <a:ext cx="2693324" cy="2834640"/>
            </a:xfrm>
            <a:prstGeom prst="roundRect">
              <a:avLst>
                <a:gd name="adj" fmla="val 6000"/>
              </a:avLst>
            </a:prstGeom>
            <a:solidFill>
              <a:srgbClr val="ECFDF5"/>
            </a:solidFill>
            <a:ln w="12700">
              <a:solidFill>
                <a:srgbClr val="BBF7D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9808" y="2130552"/>
              <a:ext cx="2180428" cy="20005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spcAft>
                  <a:spcPts val="400"/>
                </a:spcAft>
              </a:pPr>
              <a:r>
                <a:rPr sz="1300" b="1" dirty="0">
                  <a:solidFill>
                    <a:srgbClr val="16A34A"/>
                  </a:solidFill>
                  <a:latin typeface="Calibri"/>
                </a:rPr>
                <a:t>✓  Working in the browser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20896" y="2587752"/>
              <a:ext cx="2273847" cy="1317797"/>
            </a:xfrm>
            <a:prstGeom prst="rect">
              <a:avLst/>
            </a:prstGeom>
            <a:noFill/>
          </p:spPr>
          <p:txBody>
            <a:bodyPr wrap="square" lIns="0" tIns="0">
              <a:spAutoFit/>
            </a:bodyPr>
            <a:lstStyle/>
            <a:p>
              <a:pPr>
                <a:lnSpc>
                  <a:spcPct val="105000"/>
                </a:lnSpc>
                <a:spcAft>
                  <a:spcPts val="800"/>
                </a:spcAft>
              </a:pPr>
              <a:r>
                <a:rPr sz="700" dirty="0">
                  <a:solidFill>
                    <a:srgbClr val="16A34A"/>
                  </a:solidFill>
                  <a:latin typeface="Calibri"/>
                </a:rPr>
                <a:t>•  </a:t>
              </a:r>
              <a:r>
                <a:rPr sz="1100" dirty="0">
                  <a:solidFill>
                    <a:srgbClr val="475569"/>
                  </a:solidFill>
                  <a:latin typeface="Calibri"/>
                </a:rPr>
                <a:t>TensorFlow.js COCO-SSD on webcam / uploaded photos</a:t>
              </a:r>
            </a:p>
            <a:p>
              <a:pPr>
                <a:lnSpc>
                  <a:spcPct val="105000"/>
                </a:lnSpc>
                <a:spcAft>
                  <a:spcPts val="800"/>
                </a:spcAft>
              </a:pPr>
              <a:r>
                <a:rPr sz="700" dirty="0">
                  <a:solidFill>
                    <a:srgbClr val="16A34A"/>
                  </a:solidFill>
                  <a:latin typeface="Calibri"/>
                </a:rPr>
                <a:t>•  </a:t>
              </a:r>
              <a:r>
                <a:rPr sz="1100" dirty="0" smtClean="0">
                  <a:solidFill>
                    <a:srgbClr val="475569"/>
                  </a:solidFill>
                  <a:latin typeface="Calibri"/>
                </a:rPr>
                <a:t>Green Points wallet, redemption &amp; fee offset</a:t>
              </a:r>
            </a:p>
            <a:p>
              <a:pPr>
                <a:lnSpc>
                  <a:spcPct val="105000"/>
                </a:lnSpc>
                <a:spcAft>
                  <a:spcPts val="800"/>
                </a:spcAft>
              </a:pPr>
              <a:r>
                <a:rPr sz="700" dirty="0" smtClean="0">
                  <a:solidFill>
                    <a:srgbClr val="16A34A"/>
                  </a:solidFill>
                  <a:latin typeface="Calibri"/>
                </a:rPr>
                <a:t>•  </a:t>
              </a:r>
              <a:r>
                <a:rPr sz="1100" dirty="0" smtClean="0">
                  <a:solidFill>
                    <a:srgbClr val="475569"/>
                  </a:solidFill>
                  <a:latin typeface="Calibri"/>
                </a:rPr>
                <a:t>Dispatch sim on real roads (OSRM) + 6-hub map</a:t>
              </a:r>
              <a:endParaRPr sz="1100" dirty="0">
                <a:solidFill>
                  <a:srgbClr val="475569"/>
                </a:solidFill>
                <a:latin typeface="Calibri"/>
              </a:endParaRP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9141943" y="2069363"/>
            <a:ext cx="2693324" cy="2834640"/>
            <a:chOff x="6080760" y="1912022"/>
            <a:chExt cx="2693324" cy="2834640"/>
          </a:xfrm>
        </p:grpSpPr>
        <p:sp>
          <p:nvSpPr>
            <p:cNvPr id="14" name="Rounded Rectangle 13"/>
            <p:cNvSpPr/>
            <p:nvPr/>
          </p:nvSpPr>
          <p:spPr>
            <a:xfrm>
              <a:off x="6080760" y="1912022"/>
              <a:ext cx="2693324" cy="2834640"/>
            </a:xfrm>
            <a:prstGeom prst="roundRect">
              <a:avLst>
                <a:gd name="adj" fmla="val 6000"/>
              </a:avLst>
            </a:prstGeom>
            <a:solidFill>
              <a:srgbClr val="FEE2E8"/>
            </a:solidFill>
            <a:ln w="12700">
              <a:solidFill>
                <a:srgbClr val="D3124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84304" y="2127054"/>
              <a:ext cx="1787652" cy="20005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spcAft>
                  <a:spcPts val="400"/>
                </a:spcAft>
              </a:pPr>
              <a:r>
                <a:rPr sz="1300" b="1" dirty="0">
                  <a:solidFill>
                    <a:srgbClr val="D31245"/>
                  </a:solidFill>
                  <a:latin typeface="Calibri"/>
                </a:rPr>
                <a:t>!  Needs real-world build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39505" y="2541145"/>
              <a:ext cx="2410552" cy="1317797"/>
            </a:xfrm>
            <a:prstGeom prst="rect">
              <a:avLst/>
            </a:prstGeom>
            <a:noFill/>
          </p:spPr>
          <p:txBody>
            <a:bodyPr wrap="square" lIns="0" tIns="0">
              <a:spAutoFit/>
            </a:bodyPr>
            <a:lstStyle/>
            <a:p>
              <a:pPr>
                <a:lnSpc>
                  <a:spcPct val="105000"/>
                </a:lnSpc>
                <a:spcAft>
                  <a:spcPts val="800"/>
                </a:spcAft>
              </a:pPr>
              <a:r>
                <a:rPr sz="700" dirty="0">
                  <a:solidFill>
                    <a:srgbClr val="D31245"/>
                  </a:solidFill>
                  <a:latin typeface="Calibri"/>
                </a:rPr>
                <a:t>•  </a:t>
              </a:r>
              <a:r>
                <a:rPr sz="1100" dirty="0">
                  <a:solidFill>
                    <a:srgbClr val="475569"/>
                  </a:solidFill>
                  <a:latin typeface="Calibri"/>
                </a:rPr>
                <a:t>Recyclability/material classifier on real items</a:t>
              </a:r>
            </a:p>
            <a:p>
              <a:pPr>
                <a:lnSpc>
                  <a:spcPct val="105000"/>
                </a:lnSpc>
                <a:spcAft>
                  <a:spcPts val="800"/>
                </a:spcAft>
              </a:pPr>
              <a:r>
                <a:rPr sz="700" dirty="0">
                  <a:solidFill>
                    <a:srgbClr val="D31245"/>
                  </a:solidFill>
                  <a:latin typeface="Calibri"/>
                </a:rPr>
                <a:t>•  </a:t>
              </a:r>
              <a:r>
                <a:rPr sz="1100" dirty="0">
                  <a:solidFill>
                    <a:srgbClr val="475569"/>
                  </a:solidFill>
                  <a:latin typeface="Calibri"/>
                </a:rPr>
                <a:t>Physical smart-bin hardware + load cells</a:t>
              </a:r>
            </a:p>
            <a:p>
              <a:pPr>
                <a:lnSpc>
                  <a:spcPct val="105000"/>
                </a:lnSpc>
                <a:spcAft>
                  <a:spcPts val="800"/>
                </a:spcAft>
              </a:pPr>
              <a:r>
                <a:rPr sz="700" dirty="0">
                  <a:solidFill>
                    <a:srgbClr val="D31245"/>
                  </a:solidFill>
                  <a:latin typeface="Calibri"/>
                </a:rPr>
                <a:t>•  </a:t>
              </a:r>
              <a:r>
                <a:rPr sz="1100" dirty="0">
                  <a:solidFill>
                    <a:srgbClr val="475569"/>
                  </a:solidFill>
                  <a:latin typeface="Calibri"/>
                </a:rPr>
                <a:t>POS/voucher + identity + telemetry integration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375156" y="5233886"/>
            <a:ext cx="11559901" cy="914400"/>
            <a:chOff x="548640" y="5029200"/>
            <a:chExt cx="11064240" cy="914400"/>
          </a:xfrm>
        </p:grpSpPr>
        <p:sp>
          <p:nvSpPr>
            <p:cNvPr id="17" name="Rounded Rectangle 16"/>
            <p:cNvSpPr/>
            <p:nvPr/>
          </p:nvSpPr>
          <p:spPr>
            <a:xfrm>
              <a:off x="548640" y="5029200"/>
              <a:ext cx="11064240" cy="914400"/>
            </a:xfrm>
            <a:prstGeom prst="roundRect">
              <a:avLst>
                <a:gd name="adj" fmla="val 6000"/>
              </a:avLst>
            </a:prstGeom>
            <a:solidFill>
              <a:srgbClr val="F8FAFC"/>
            </a:solidFill>
            <a:ln w="12700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7240" y="5138928"/>
              <a:ext cx="1060704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15000"/>
                </a:lnSpc>
                <a:spcBef>
                  <a:spcPts val="0"/>
                </a:spcBef>
                <a:spcAft>
                  <a:spcPts val="400"/>
                </a:spcAft>
              </a:pPr>
              <a:r>
                <a:rPr sz="1200" b="1" dirty="0">
                  <a:solidFill>
                    <a:srgbClr val="0F172A"/>
                  </a:solidFill>
                  <a:latin typeface="Calibri"/>
                </a:rPr>
                <a:t>On AI accuracy &amp; anti-cheat:  </a:t>
              </a:r>
              <a:r>
                <a:rPr sz="1150" b="0" dirty="0">
                  <a:solidFill>
                    <a:srgbClr val="475569"/>
                  </a:solidFill>
                  <a:latin typeface="Calibri"/>
                </a:rPr>
                <a:t>the demo detects common objects (bottle, can, cup, phone); it does not yet confirm material purity. Production needs a recyclability classifier validated on real items, plus the two-camera entry/inside check to stop re-scanning without depositing.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GreenLoop · Team Synkosys · Sime Darby Property University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Appendix B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6356275" y="2060896"/>
            <a:ext cx="2693324" cy="2834640"/>
            <a:chOff x="3168706" y="1828800"/>
            <a:chExt cx="2693324" cy="2834640"/>
          </a:xfrm>
        </p:grpSpPr>
        <p:grpSp>
          <p:nvGrpSpPr>
            <p:cNvPr id="32" name="Group 31"/>
            <p:cNvGrpSpPr/>
            <p:nvPr/>
          </p:nvGrpSpPr>
          <p:grpSpPr>
            <a:xfrm>
              <a:off x="3168706" y="1828800"/>
              <a:ext cx="2693324" cy="2834640"/>
              <a:chOff x="3204556" y="1912022"/>
              <a:chExt cx="2693324" cy="2834640"/>
            </a:xfrm>
          </p:grpSpPr>
          <p:sp>
            <p:nvSpPr>
              <p:cNvPr id="33" name="Rounded Rectangle 32"/>
              <p:cNvSpPr/>
              <p:nvPr/>
            </p:nvSpPr>
            <p:spPr>
              <a:xfrm>
                <a:off x="3204556" y="1912022"/>
                <a:ext cx="2693324" cy="2834640"/>
              </a:xfrm>
              <a:prstGeom prst="roundRect">
                <a:avLst>
                  <a:gd name="adj" fmla="val 6000"/>
                </a:avLst>
              </a:prstGeom>
              <a:solidFill>
                <a:srgbClr val="CCECFF"/>
              </a:solidFill>
              <a:ln w="12700"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3479292" y="2128167"/>
                <a:ext cx="2222838" cy="2000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1300" b="1" dirty="0">
                    <a:solidFill>
                      <a:srgbClr val="002060"/>
                    </a:solidFill>
                    <a:latin typeface="Calibri"/>
                  </a:rPr>
                  <a:t>~  </a:t>
                </a:r>
                <a:r>
                  <a:rPr lang="en-US" sz="1300" b="1" dirty="0" smtClean="0">
                    <a:solidFill>
                      <a:srgbClr val="002060"/>
                    </a:solidFill>
                    <a:latin typeface="Calibri"/>
                  </a:rPr>
                  <a:t>Mobile Application </a:t>
                </a:r>
                <a:endParaRPr sz="1300" b="1" dirty="0">
                  <a:solidFill>
                    <a:srgbClr val="002060"/>
                  </a:solidFill>
                  <a:latin typeface="Calibri"/>
                </a:endParaRPr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3378459" y="2532942"/>
                <a:ext cx="2424504" cy="1140056"/>
              </a:xfrm>
              <a:prstGeom prst="rect">
                <a:avLst/>
              </a:prstGeom>
              <a:noFill/>
            </p:spPr>
            <p:txBody>
              <a:bodyPr wrap="square" lIns="0" tIns="0">
                <a:spAutoFit/>
              </a:bodyPr>
              <a:lstStyle/>
              <a:p>
                <a:pPr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700" dirty="0">
                    <a:solidFill>
                      <a:srgbClr val="002060"/>
                    </a:solidFill>
                    <a:latin typeface="Calibri"/>
                  </a:rPr>
                  <a:t>•  </a:t>
                </a:r>
                <a:r>
                  <a:rPr lang="en-US" sz="1100" dirty="0" smtClean="0">
                    <a:solidFill>
                      <a:srgbClr val="002060"/>
                    </a:solidFill>
                    <a:latin typeface="Calibri"/>
                  </a:rPr>
                  <a:t>Phone Apps for User</a:t>
                </a:r>
                <a:endParaRPr sz="1100" dirty="0">
                  <a:solidFill>
                    <a:srgbClr val="002060"/>
                  </a:solidFill>
                  <a:latin typeface="Calibri"/>
                </a:endParaRPr>
              </a:p>
              <a:p>
                <a:pPr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700" dirty="0">
                    <a:solidFill>
                      <a:srgbClr val="002060"/>
                    </a:solidFill>
                    <a:latin typeface="Calibri"/>
                  </a:rPr>
                  <a:t>•  </a:t>
                </a:r>
                <a:r>
                  <a:rPr lang="en-US" sz="1100" dirty="0" smtClean="0">
                    <a:solidFill>
                      <a:srgbClr val="002060"/>
                    </a:solidFill>
                    <a:latin typeface="Calibri"/>
                  </a:rPr>
                  <a:t>User to connect with the Smart Recycle Hub</a:t>
                </a:r>
              </a:p>
              <a:p>
                <a:pPr>
                  <a:lnSpc>
                    <a:spcPct val="105000"/>
                  </a:lnSpc>
                  <a:spcAft>
                    <a:spcPts val="800"/>
                  </a:spcAft>
                </a:pPr>
                <a:r>
                  <a:rPr lang="en-US" sz="700" dirty="0">
                    <a:solidFill>
                      <a:srgbClr val="002060"/>
                    </a:solidFill>
                  </a:rPr>
                  <a:t>•  </a:t>
                </a:r>
                <a:r>
                  <a:rPr lang="en-US" sz="1100" dirty="0" smtClean="0">
                    <a:solidFill>
                      <a:srgbClr val="002060"/>
                    </a:solidFill>
                  </a:rPr>
                  <a:t>Activity monitoring </a:t>
                </a:r>
                <a:r>
                  <a:rPr lang="en-US" sz="1100" dirty="0">
                    <a:solidFill>
                      <a:srgbClr val="002060"/>
                    </a:solidFill>
                  </a:rPr>
                  <a:t>+ Green Points wallet, redemption &amp; fee offset</a:t>
                </a:r>
              </a:p>
            </p:txBody>
          </p:sp>
        </p:grp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54156" y="3589776"/>
              <a:ext cx="481261" cy="989087"/>
            </a:xfrm>
            <a:prstGeom prst="rect">
              <a:avLst/>
            </a:prstGeom>
            <a:ln>
              <a:noFill/>
            </a:ln>
            <a:effectLst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</p:grpSp>
      <p:grpSp>
        <p:nvGrpSpPr>
          <p:cNvPr id="38" name="Group 37"/>
          <p:cNvGrpSpPr/>
          <p:nvPr/>
        </p:nvGrpSpPr>
        <p:grpSpPr>
          <a:xfrm>
            <a:off x="3283766" y="2057441"/>
            <a:ext cx="2693324" cy="2834640"/>
            <a:chOff x="6055420" y="1828800"/>
            <a:chExt cx="2693324" cy="2834640"/>
          </a:xfrm>
        </p:grpSpPr>
        <p:grpSp>
          <p:nvGrpSpPr>
            <p:cNvPr id="30" name="Group 29"/>
            <p:cNvGrpSpPr/>
            <p:nvPr/>
          </p:nvGrpSpPr>
          <p:grpSpPr>
            <a:xfrm>
              <a:off x="6055420" y="1828800"/>
              <a:ext cx="2693324" cy="2834640"/>
              <a:chOff x="3204556" y="1912022"/>
              <a:chExt cx="2693324" cy="283464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3204556" y="1912022"/>
                <a:ext cx="2693324" cy="2834640"/>
              </a:xfrm>
              <a:prstGeom prst="roundRect">
                <a:avLst>
                  <a:gd name="adj" fmla="val 6000"/>
                </a:avLst>
              </a:prstGeom>
              <a:solidFill>
                <a:srgbClr val="FEF3E2"/>
              </a:solidFill>
              <a:ln w="12700">
                <a:solidFill>
                  <a:srgbClr val="F59E0B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3479292" y="2128167"/>
                <a:ext cx="2222838" cy="2000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1300" b="1" dirty="0">
                    <a:solidFill>
                      <a:srgbClr val="F97316"/>
                    </a:solidFill>
                    <a:latin typeface="Calibri"/>
                  </a:rPr>
                  <a:t>~  Simulated in the prototype</a:t>
                </a: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3438144" y="2544367"/>
                <a:ext cx="2305134" cy="1317797"/>
              </a:xfrm>
              <a:prstGeom prst="rect">
                <a:avLst/>
              </a:prstGeom>
              <a:noFill/>
            </p:spPr>
            <p:txBody>
              <a:bodyPr wrap="square" lIns="0" tIns="0">
                <a:spAutoFit/>
              </a:bodyPr>
              <a:lstStyle/>
              <a:p>
                <a:pPr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700" dirty="0">
                    <a:solidFill>
                      <a:srgbClr val="F97316"/>
                    </a:solidFill>
                    <a:latin typeface="Calibri"/>
                  </a:rPr>
                  <a:t>•  </a:t>
                </a:r>
                <a:r>
                  <a:rPr sz="1100" dirty="0">
                    <a:solidFill>
                      <a:srgbClr val="475569"/>
                    </a:solidFill>
                    <a:latin typeface="Calibri"/>
                  </a:rPr>
                  <a:t>Bin fill levels &amp; sensor weights (demo values)</a:t>
                </a:r>
              </a:p>
              <a:p>
                <a:pPr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700" dirty="0">
                    <a:solidFill>
                      <a:srgbClr val="F97316"/>
                    </a:solidFill>
                    <a:latin typeface="Calibri"/>
                  </a:rPr>
                  <a:t>•  </a:t>
                </a:r>
                <a:r>
                  <a:rPr sz="1100" dirty="0">
                    <a:solidFill>
                      <a:srgbClr val="475569"/>
                    </a:solidFill>
                    <a:latin typeface="Calibri"/>
                  </a:rPr>
                  <a:t>Two-camera cheat check (entry vs inside)</a:t>
                </a:r>
              </a:p>
              <a:p>
                <a:pPr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700" dirty="0">
                    <a:solidFill>
                      <a:srgbClr val="F97316"/>
                    </a:solidFill>
                    <a:latin typeface="Calibri"/>
                  </a:rPr>
                  <a:t>•  </a:t>
                </a:r>
                <a:r>
                  <a:rPr sz="1100" dirty="0">
                    <a:solidFill>
                      <a:srgbClr val="475569"/>
                    </a:solidFill>
                    <a:latin typeface="Calibri"/>
                  </a:rPr>
                  <a:t>Township ROI from an indicative, tunable model</a:t>
                </a:r>
              </a:p>
            </p:txBody>
          </p:sp>
        </p:grpSp>
        <p:pic>
          <p:nvPicPr>
            <p:cNvPr id="37" name="Picture 36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36" t="22589" r="-967" b="4116"/>
            <a:stretch/>
          </p:blipFill>
          <p:spPr>
            <a:xfrm>
              <a:off x="7466239" y="3539489"/>
              <a:ext cx="1205204" cy="1089660"/>
            </a:xfrm>
            <a:prstGeom prst="rect">
              <a:avLst/>
            </a:prstGeom>
            <a:ln>
              <a:noFill/>
            </a:ln>
            <a:effectLst>
              <a:outerShdw blurRad="190500" algn="tl" rotWithShape="0">
                <a:srgbClr val="000000">
                  <a:alpha val="70000"/>
                </a:srgbClr>
              </a:outerShdw>
            </a:effectLst>
          </p:spPr>
        </p:pic>
      </p:grpSp>
      <p:sp>
        <p:nvSpPr>
          <p:cNvPr id="40" name="Rectangle 39"/>
          <p:cNvSpPr/>
          <p:nvPr/>
        </p:nvSpPr>
        <p:spPr>
          <a:xfrm>
            <a:off x="2124689" y="1590475"/>
            <a:ext cx="241816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dirty="0" smtClean="0">
                <a:ln w="22225">
                  <a:noFill/>
                  <a:prstDash val="solid"/>
                </a:ln>
                <a:solidFill>
                  <a:srgbClr val="00B050"/>
                </a:solidFill>
              </a:rPr>
              <a:t>WORKING TODAY</a:t>
            </a:r>
            <a:endParaRPr lang="en-US" sz="2400" b="1" dirty="0">
              <a:ln w="22225">
                <a:noFill/>
                <a:prstDash val="solid"/>
              </a:ln>
              <a:solidFill>
                <a:srgbClr val="00B050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236871" y="1599231"/>
            <a:ext cx="391665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dirty="0" smtClean="0">
                <a:ln w="22225">
                  <a:noFill/>
                  <a:prstDash val="solid"/>
                </a:ln>
                <a:solidFill>
                  <a:srgbClr val="002060"/>
                </a:solidFill>
              </a:rPr>
              <a:t>WHAT STILL NEEDS BUILDING</a:t>
            </a:r>
            <a:endParaRPr lang="en-US" sz="2400" b="1" dirty="0">
              <a:ln w="22225">
                <a:noFill/>
                <a:prstDash val="solid"/>
              </a:ln>
              <a:solidFill>
                <a:srgbClr val="002060"/>
              </a:solidFill>
            </a:endParaRP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6359" y="3961203"/>
            <a:ext cx="1370334" cy="76411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Operator analytics &amp; network</a:t>
            </a:r>
          </a:p>
        </p:txBody>
      </p:sp>
      <p:pic>
        <p:nvPicPr>
          <p:cNvPr id="5" name="Picture 4" descr="greenloop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402336"/>
            <a:ext cx="841248" cy="621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234440"/>
            <a:ext cx="11064240" cy="30480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ops-hubst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1554480"/>
            <a:ext cx="4564684" cy="35661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963778" y="1554480"/>
            <a:ext cx="4564684" cy="3566160"/>
          </a:xfrm>
          <a:prstGeom prst="rect">
            <a:avLst/>
          </a:prstGeom>
          <a:noFill/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1">
                <a:solidFill>
                  <a:srgbClr val="64748B"/>
                </a:solidFill>
                <a:latin typeface="Calibri"/>
              </a:rPr>
              <a:t>Hub Stat · day / month / year, respects 09:00 to 17:00 hours</a:t>
            </a:r>
          </a:p>
        </p:txBody>
      </p:sp>
      <p:pic>
        <p:nvPicPr>
          <p:cNvPr id="10" name="Picture 9" descr="hub-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778" y="1554480"/>
            <a:ext cx="4564684" cy="35661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678778" y="1554480"/>
            <a:ext cx="4564684" cy="3566160"/>
          </a:xfrm>
          <a:prstGeom prst="rect">
            <a:avLst/>
          </a:prstGeom>
          <a:noFill/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52120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1">
                <a:solidFill>
                  <a:srgbClr val="64748B"/>
                </a:solidFill>
                <a:latin typeface="Calibri"/>
              </a:rPr>
              <a:t>Recycle Hub network (6 hubs, City of Elmina + Bandar Bukit Raja)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Tech stack: </a:t>
            </a:r>
            <a:r>
              <a:rPr sz="1200" b="0">
                <a:solidFill>
                  <a:srgbClr val="475569"/>
                </a:solidFill>
                <a:latin typeface="Calibri"/>
              </a:rPr>
              <a:t>React + Vite · Tailwind · TensorFlow.js COCO-SSD · OSRM road routing · Leaflet maps · Recharts. All client-side; no backend.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GreenLoop · Team Synkosys · Sime Darby Property University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4652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Appendix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457200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How we meet the judging criteria</a:t>
            </a:r>
          </a:p>
        </p:txBody>
      </p:sp>
      <p:pic>
        <p:nvPicPr>
          <p:cNvPr id="5" name="Picture 4" descr="greenloop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402336"/>
            <a:ext cx="841248" cy="6217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234440"/>
            <a:ext cx="11064240" cy="30480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743200" cy="713232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737360"/>
            <a:ext cx="24688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737360"/>
            <a:ext cx="832104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737360"/>
            <a:ext cx="79552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Calibri"/>
              </a:rPr>
              <a:t>Environmental (diversion, CO₂), community (rewards) and operational (cost, visibility) outcomes.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50592"/>
            <a:ext cx="2743200" cy="713232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450592"/>
            <a:ext cx="24688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Innovation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450592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2450592"/>
            <a:ext cx="79552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Calibri"/>
              </a:rPr>
              <a:t>AI item verification + funded reward model + live AI dispatch in one loop.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63824"/>
            <a:ext cx="2743200" cy="713232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163824"/>
            <a:ext cx="24688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Feasibility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163824"/>
            <a:ext cx="832104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3163824"/>
            <a:ext cx="79552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Calibri"/>
              </a:rPr>
              <a:t>Deployed working prototype; realistic one-hub pilot; clear validation checklist.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2743200" cy="713232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877056"/>
            <a:ext cx="24688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Strategic fit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877056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74720" y="3877056"/>
            <a:ext cx="79552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Calibri"/>
              </a:rPr>
              <a:t>Built on real Sime Darby Property townships; supports ESG and SHIFT25 goals.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90288"/>
            <a:ext cx="2743200" cy="713232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590288"/>
            <a:ext cx="24688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Commercial value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590288"/>
            <a:ext cx="832104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74720" y="4590288"/>
            <a:ext cx="79552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Calibri"/>
              </a:rPr>
              <a:t>Self-funding business case: operating surplus + CapEx payback, not a subsidy.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03520"/>
            <a:ext cx="2743200" cy="713232"/>
          </a:xfrm>
          <a:prstGeom prst="rect">
            <a:avLst/>
          </a:prstGeom>
          <a:solidFill>
            <a:srgbClr val="D312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303520"/>
            <a:ext cx="24688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&amp; pitch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30352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0" y="5303520"/>
            <a:ext cx="795528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475569"/>
                </a:solidFill>
                <a:latin typeface="Calibri"/>
              </a:rPr>
              <a:t>A focused team shipping a real, honest, demoable product.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GreenLoop · Team Synkosys · Sime Darby Property University Hackathon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644652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Appendix 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542</Words>
  <Application>Microsoft Office PowerPoint</Application>
  <PresentationFormat>Widescreen</PresentationFormat>
  <Paragraphs>73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setsunafath sei</cp:lastModifiedBy>
  <cp:revision>9</cp:revision>
  <dcterms:created xsi:type="dcterms:W3CDTF">2013-01-27T09:14:16Z</dcterms:created>
  <dcterms:modified xsi:type="dcterms:W3CDTF">2026-10-22T13:57:16Z</dcterms:modified>
  <cp:category/>
</cp:coreProperties>
</file>