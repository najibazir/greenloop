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749039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GreenLoop · Team Synkosys · supporting detail for the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Business case &amp; assumptions</a:t>
            </a: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02336"/>
            <a:ext cx="841248" cy="621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Indicative Malaysian benchmarks (2024). Stated openly, not audited financials.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6309360" cy="5120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Avoided landfill &amp; haulage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1920240"/>
            <a:ext cx="3108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RM 230 / tonne diverted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32304"/>
            <a:ext cx="630936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32304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Carbon / ESG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432304"/>
            <a:ext cx="3108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RM 90 / tonne CO₂e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44368"/>
            <a:ext cx="6309360" cy="5120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44368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Hub operating cost (opex)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2944368"/>
            <a:ext cx="3108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RM 4,200 / 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56432"/>
            <a:ext cx="630936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56432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One-time setup (CapEx)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456432"/>
            <a:ext cx="3108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RM 85,000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68496"/>
            <a:ext cx="6309360" cy="5120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68496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Green Point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3968496"/>
            <a:ext cx="3108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RM 0.10 per GP (10 GP = RM 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80560"/>
            <a:ext cx="630936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480560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GP redemption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4480560"/>
            <a:ext cx="3108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65% of issued GP redeemed for cash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992624"/>
            <a:ext cx="6309360" cy="5120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92624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Assumed volume growth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0" y="4992624"/>
            <a:ext cx="3108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8% per month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504688"/>
            <a:ext cx="630936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504688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Bulk price: aluminium / e-waste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40" y="5504688"/>
            <a:ext cx="3108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RM 4.2 / RM 12 per kg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016752"/>
            <a:ext cx="6309360" cy="512064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6016752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Calibri"/>
              </a:rPr>
              <a:t>Bulk price: PET / paper / cardboard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40" y="6016752"/>
            <a:ext cx="31089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RM 1.1 / 0.55 / 0.45 per kg</a:t>
            </a:r>
          </a:p>
        </p:txBody>
      </p:sp>
      <p:pic>
        <p:nvPicPr>
          <p:cNvPr id="35" name="Picture 34" descr="ops-led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209562"/>
            <a:ext cx="4526280" cy="3536156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7086600" y="2209562"/>
            <a:ext cx="4526280" cy="3536156"/>
          </a:xfrm>
          <a:prstGeom prst="rect">
            <a:avLst/>
          </a:prstGeom>
          <a:noFill/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Team Synkosys · Sime Darby Property University Hackathon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Appendix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AI &amp; system status · honest boundary</a:t>
            </a: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02336"/>
            <a:ext cx="841248" cy="621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What is genuinely working today vs. what still needs building.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611880" cy="28346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3055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A34A"/>
                </a:solidFill>
                <a:latin typeface="Calibri"/>
              </a:rPr>
              <a:t>✓  Working in the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51760"/>
            <a:ext cx="320040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700">
                <a:solidFill>
                  <a:srgbClr val="16A34A"/>
                </a:solidFill>
                <a:latin typeface="Calibri"/>
              </a:rPr>
              <a:t>•  </a:t>
            </a:r>
            <a:r>
              <a:rPr sz="1100">
                <a:solidFill>
                  <a:srgbClr val="475569"/>
                </a:solidFill>
                <a:latin typeface="Calibri"/>
              </a:rPr>
              <a:t>TensorFlow.js COCO-SSD on webcam / uploaded photos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700">
                <a:solidFill>
                  <a:srgbClr val="16A34A"/>
                </a:solidFill>
                <a:latin typeface="Calibri"/>
              </a:rPr>
              <a:t>•  </a:t>
            </a:r>
            <a:r>
              <a:rPr sz="1100">
                <a:solidFill>
                  <a:srgbClr val="475569"/>
                </a:solidFill>
                <a:latin typeface="Calibri"/>
              </a:rPr>
              <a:t>Green Points wallet, redemption &amp; fee offset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700">
                <a:solidFill>
                  <a:srgbClr val="16A34A"/>
                </a:solidFill>
                <a:latin typeface="Calibri"/>
              </a:rPr>
              <a:t>•  </a:t>
            </a:r>
            <a:r>
              <a:rPr sz="1100">
                <a:solidFill>
                  <a:srgbClr val="475569"/>
                </a:solidFill>
                <a:latin typeface="Calibri"/>
              </a:rPr>
              <a:t>Dispatch sim on real roads (OSRM) + 6-hub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965960"/>
            <a:ext cx="3611880" cy="2834640"/>
          </a:xfrm>
          <a:prstGeom prst="roundRect">
            <a:avLst>
              <a:gd name="adj" fmla="val 6000"/>
            </a:avLst>
          </a:prstGeom>
          <a:solidFill>
            <a:srgbClr val="FEF3E2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213055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97316"/>
                </a:solidFill>
                <a:latin typeface="Calibri"/>
              </a:rPr>
              <a:t>~  Simulated in the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651760"/>
            <a:ext cx="320040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700">
                <a:solidFill>
                  <a:srgbClr val="F97316"/>
                </a:solidFill>
                <a:latin typeface="Calibri"/>
              </a:rPr>
              <a:t>•  </a:t>
            </a:r>
            <a:r>
              <a:rPr sz="1100">
                <a:solidFill>
                  <a:srgbClr val="475569"/>
                </a:solidFill>
                <a:latin typeface="Calibri"/>
              </a:rPr>
              <a:t>Bin fill levels &amp; sensor weights (demo values)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700">
                <a:solidFill>
                  <a:srgbClr val="F97316"/>
                </a:solidFill>
                <a:latin typeface="Calibri"/>
              </a:rPr>
              <a:t>•  </a:t>
            </a:r>
            <a:r>
              <a:rPr sz="1100">
                <a:solidFill>
                  <a:srgbClr val="475569"/>
                </a:solidFill>
                <a:latin typeface="Calibri"/>
              </a:rPr>
              <a:t>Two-camera cheat check (entry vs inside)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700">
                <a:solidFill>
                  <a:srgbClr val="F97316"/>
                </a:solidFill>
                <a:latin typeface="Calibri"/>
              </a:rPr>
              <a:t>•  </a:t>
            </a:r>
            <a:r>
              <a:rPr sz="1100">
                <a:solidFill>
                  <a:srgbClr val="475569"/>
                </a:solidFill>
                <a:latin typeface="Calibri"/>
              </a:rPr>
              <a:t>Township ROI from an indicative, tunable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965960"/>
            <a:ext cx="3611880" cy="2834640"/>
          </a:xfrm>
          <a:prstGeom prst="roundRect">
            <a:avLst>
              <a:gd name="adj" fmla="val 6000"/>
            </a:avLst>
          </a:prstGeom>
          <a:solidFill>
            <a:srgbClr val="FEE2E8"/>
          </a:solidFill>
          <a:ln w="12700">
            <a:solidFill>
              <a:srgbClr val="D31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213055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31245"/>
                </a:solidFill>
                <a:latin typeface="Calibri"/>
              </a:rPr>
              <a:t>!  Needs real-world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651760"/>
            <a:ext cx="320040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700">
                <a:solidFill>
                  <a:srgbClr val="D31245"/>
                </a:solidFill>
                <a:latin typeface="Calibri"/>
              </a:rPr>
              <a:t>•  </a:t>
            </a:r>
            <a:r>
              <a:rPr sz="1100">
                <a:solidFill>
                  <a:srgbClr val="475569"/>
                </a:solidFill>
                <a:latin typeface="Calibri"/>
              </a:rPr>
              <a:t>Recyclability/material classifier on real items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700">
                <a:solidFill>
                  <a:srgbClr val="D31245"/>
                </a:solidFill>
                <a:latin typeface="Calibri"/>
              </a:rPr>
              <a:t>•  </a:t>
            </a:r>
            <a:r>
              <a:rPr sz="1100">
                <a:solidFill>
                  <a:srgbClr val="475569"/>
                </a:solidFill>
                <a:latin typeface="Calibri"/>
              </a:rPr>
              <a:t>Physical smart-bin hardware + load cells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700">
                <a:solidFill>
                  <a:srgbClr val="D31245"/>
                </a:solidFill>
                <a:latin typeface="Calibri"/>
              </a:rPr>
              <a:t>•  </a:t>
            </a:r>
            <a:r>
              <a:rPr sz="1100">
                <a:solidFill>
                  <a:srgbClr val="475569"/>
                </a:solidFill>
                <a:latin typeface="Calibri"/>
              </a:rPr>
              <a:t>POS/voucher + identity + telemetry integration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138928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On AI accuracy &amp; anti-cheat:  </a:t>
            </a:r>
            <a:r>
              <a:rPr sz="1150" b="0">
                <a:solidFill>
                  <a:srgbClr val="475569"/>
                </a:solidFill>
                <a:latin typeface="Calibri"/>
              </a:rPr>
              <a:t>the demo detects common objects (bottle, can, cup, phone); it does not yet confirm material purity. Production needs a recyclability classifier validated on real items, plus the two-camera entry/inside check to stop re-scanning without depositing.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Team Synkosys · Sime Darby Property University Hackathon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Appendix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Operator analytics &amp; network</a:t>
            </a: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02336"/>
            <a:ext cx="841248" cy="621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s-hubst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1554480"/>
            <a:ext cx="4564684" cy="3566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63778" y="1554480"/>
            <a:ext cx="4564684" cy="3566160"/>
          </a:xfrm>
          <a:prstGeom prst="rect">
            <a:avLst/>
          </a:prstGeom>
          <a:noFill/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1">
                <a:solidFill>
                  <a:srgbClr val="64748B"/>
                </a:solidFill>
                <a:latin typeface="Calibri"/>
              </a:rPr>
              <a:t>Hub Stat · day / month / year, respects 09:00 to 17:00 hours</a:t>
            </a:r>
          </a:p>
        </p:txBody>
      </p:sp>
      <p:pic>
        <p:nvPicPr>
          <p:cNvPr id="10" name="Picture 9" descr="hub-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78" y="1554480"/>
            <a:ext cx="4564684" cy="35661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678778" y="1554480"/>
            <a:ext cx="4564684" cy="3566160"/>
          </a:xfrm>
          <a:prstGeom prst="rect">
            <a:avLst/>
          </a:prstGeom>
          <a:noFill/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52120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1">
                <a:solidFill>
                  <a:srgbClr val="64748B"/>
                </a:solidFill>
                <a:latin typeface="Calibri"/>
              </a:rPr>
              <a:t>Recycle Hub network (6 hubs, City of Elmina + Bandar Bukit Raja)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6072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Tech stack: </a:t>
            </a:r>
            <a:r>
              <a:rPr sz="1200" b="0">
                <a:solidFill>
                  <a:srgbClr val="475569"/>
                </a:solidFill>
                <a:latin typeface="Calibri"/>
              </a:rPr>
              <a:t>React + Vite · Tailwind · TensorFlow.js COCO-SSD · OSRM road routing · Leaflet maps · Recharts. All client-side; no backend.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Team Synkosys · Sime Darby Property University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Appendix 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457200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F172A"/>
                </a:solidFill>
                <a:latin typeface="Calibri"/>
              </a:rPr>
              <a:t>How we meet the judging criteria</a:t>
            </a:r>
          </a:p>
        </p:txBody>
      </p:sp>
      <p:pic>
        <p:nvPicPr>
          <p:cNvPr id="5" name="Picture 4" descr="greenloo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402336"/>
            <a:ext cx="841248" cy="621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234440"/>
            <a:ext cx="11064240" cy="30480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743200" cy="713232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37360"/>
            <a:ext cx="2468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737360"/>
            <a:ext cx="832104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7955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Environmental (diversion, CO₂), community (rewards) and operational (cost, visibility) outcomes.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50592"/>
            <a:ext cx="2743200" cy="713232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450592"/>
            <a:ext cx="2468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Innovation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450592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450592"/>
            <a:ext cx="7955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AI item verification + funded reward model + live AI dispatch in one loop.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63824"/>
            <a:ext cx="2743200" cy="713232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163824"/>
            <a:ext cx="2468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Feasibility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3163824"/>
            <a:ext cx="832104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163824"/>
            <a:ext cx="7955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Deployed working prototype; realistic one-hub pilot; clear validation checklist.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77056"/>
            <a:ext cx="2743200" cy="713232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877056"/>
            <a:ext cx="2468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Strategic fit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877056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877056"/>
            <a:ext cx="7955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Built on real Sime Darby Property townships; supports ESG and SHIFT25 goals.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90288"/>
            <a:ext cx="2743200" cy="713232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590288"/>
            <a:ext cx="2468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Commercial value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590288"/>
            <a:ext cx="832104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4590288"/>
            <a:ext cx="7955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Self-funding business case: operating surplus + CapEx payback, not a subsidy.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03520"/>
            <a:ext cx="2743200" cy="713232"/>
          </a:xfrm>
          <a:prstGeom prst="rect">
            <a:avLst/>
          </a:prstGeom>
          <a:solidFill>
            <a:srgbClr val="D31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303520"/>
            <a:ext cx="2468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Team &amp; pitch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5303520"/>
            <a:ext cx="8321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5303520"/>
            <a:ext cx="7955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Calibri"/>
              </a:rPr>
              <a:t>A focused team shipping a real, honest, demoable product.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GreenLoop · Team Synkosys · Sime Darby Property University Hackathon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644652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Appendix 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